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1371600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43584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2F5D8C"/>
                </a:solidFill>
                <a:latin typeface="Calibri"/>
              </a:rPr>
              <a:t>KALUA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048256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“KAlipso in LUA” — a sandboxed Lua runtime for Kalipso-style web apps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3"/>
                </a:solidFill>
                <a:latin typeface="Calibri"/>
              </a:rPr>
              <a:t>One generic binary interprets any `.lua` app. No compilation step, no per-app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127248"/>
            <a:ext cx="3310128" cy="969264"/>
          </a:xfrm>
          <a:prstGeom prst="roundRect">
            <a:avLst>
              <a:gd name="adj" fmla="val 3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3127248"/>
            <a:ext cx="50292" cy="969264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32552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5D8C"/>
                </a:solidFill>
                <a:latin typeface="Calibri"/>
              </a:rP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547872"/>
            <a:ext cx="2926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Interactive web app — forms, controls, charts over HTTP + WebSocket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3127248"/>
            <a:ext cx="3310128" cy="969264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3127248"/>
            <a:ext cx="50292" cy="969264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2552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695C"/>
                </a:solidFill>
                <a:latin typeface="Calibri"/>
              </a:rPr>
              <a:t>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547872"/>
            <a:ext cx="2926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Headless HTTP / WebSocket / TCP API server with a worker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3127248"/>
            <a:ext cx="3310128" cy="969264"/>
          </a:xfrm>
          <a:prstGeom prst="roundRect">
            <a:avLst>
              <a:gd name="adj" fmla="val 3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4424" y="3127248"/>
            <a:ext cx="50292" cy="969264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32552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D1F"/>
                </a:solidFill>
                <a:latin typeface="Calibri"/>
              </a:rPr>
              <a:t>Author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3547872"/>
            <a:ext cx="2926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Visual Builder, natural-language AI and an MCP server for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" y="4443984"/>
            <a:ext cx="6766560" cy="1481328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553712"/>
            <a:ext cx="6473952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i="1">
                <a:solidFill>
                  <a:srgbClr val="7A8899"/>
                </a:solidFill>
                <a:latin typeface="Menlo"/>
              </a:rPr>
              <a:t>-- myapp.lua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i="0">
                <a:solidFill>
                  <a:srgbClr val="7EC6F0"/>
                </a:solidFill>
                <a:latin typeface="Menlo"/>
              </a:rPr>
              <a:t>function</a:t>
            </a:r>
            <a:r>
              <a:rPr sz="1000" i="0">
                <a:solidFill>
                  <a:srgbClr val="E6EDF3"/>
                </a:solidFill>
                <a:latin typeface="Menlo"/>
              </a:rPr>
              <a:t> </a:t>
            </a:r>
            <a:r>
              <a:rPr sz="1000" i="0">
                <a:solidFill>
                  <a:srgbClr val="E6EDF3"/>
                </a:solidFill>
                <a:latin typeface="Menlo"/>
              </a:rPr>
              <a:t>main</a:t>
            </a:r>
            <a:r>
              <a:rPr sz="1000" i="0">
                <a:solidFill>
                  <a:srgbClr val="E6EDF3"/>
                </a:solidFill>
                <a:latin typeface="Menlo"/>
              </a:rPr>
              <a:t>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Menlo"/>
              </a:rPr>
              <a:t>  </a:t>
            </a:r>
            <a:r>
              <a:rPr sz="1000" i="1">
                <a:solidFill>
                  <a:srgbClr val="C5E0B4"/>
                </a:solidFill>
                <a:latin typeface="Menlo"/>
              </a:rPr>
              <a:t>k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form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new</a:t>
            </a:r>
            <a:r>
              <a:rPr sz="1000" i="0">
                <a:solidFill>
                  <a:srgbClr val="E6EDF3"/>
                </a:solidFill>
                <a:latin typeface="Menlo"/>
              </a:rPr>
              <a:t>(</a:t>
            </a:r>
            <a:r>
              <a:rPr sz="1000" i="0">
                <a:solidFill>
                  <a:srgbClr val="A5D6A0"/>
                </a:solidFill>
                <a:latin typeface="Menlo"/>
              </a:rPr>
              <a:t>"main"</a:t>
            </a:r>
            <a:r>
              <a:rPr sz="1000" i="0">
                <a:solidFill>
                  <a:srgbClr val="E6EDF3"/>
                </a:solidFill>
                <a:latin typeface="Menlo"/>
              </a:rPr>
              <a:t>, { </a:t>
            </a:r>
            <a:r>
              <a:rPr sz="1000" i="0">
                <a:solidFill>
                  <a:srgbClr val="E6EDF3"/>
                </a:solidFill>
                <a:latin typeface="Menlo"/>
              </a:rPr>
              <a:t>title</a:t>
            </a:r>
            <a:r>
              <a:rPr sz="1000" i="0">
                <a:solidFill>
                  <a:srgbClr val="E6EDF3"/>
                </a:solidFill>
                <a:latin typeface="Menlo"/>
              </a:rPr>
              <a:t> = </a:t>
            </a:r>
            <a:r>
              <a:rPr sz="1000" i="0">
                <a:solidFill>
                  <a:srgbClr val="A5D6A0"/>
                </a:solidFill>
                <a:latin typeface="Menlo"/>
              </a:rPr>
              <a:t>"Hello"</a:t>
            </a:r>
            <a:r>
              <a:rPr sz="1000" i="0">
                <a:solidFill>
                  <a:srgbClr val="E6EDF3"/>
                </a:solidFill>
                <a:latin typeface="Menlo"/>
              </a:rPr>
              <a:t>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Menlo"/>
              </a:rPr>
              <a:t>  </a:t>
            </a:r>
            <a:r>
              <a:rPr sz="1000" i="1">
                <a:solidFill>
                  <a:srgbClr val="C5E0B4"/>
                </a:solidFill>
                <a:latin typeface="Menlo"/>
              </a:rPr>
              <a:t>k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ctrl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textbox</a:t>
            </a:r>
            <a:r>
              <a:rPr sz="1000" i="0">
                <a:solidFill>
                  <a:srgbClr val="E6EDF3"/>
                </a:solidFill>
                <a:latin typeface="Menlo"/>
              </a:rPr>
              <a:t>(</a:t>
            </a:r>
            <a:r>
              <a:rPr sz="1000" i="0">
                <a:solidFill>
                  <a:srgbClr val="A5D6A0"/>
                </a:solidFill>
                <a:latin typeface="Menlo"/>
              </a:rPr>
              <a:t>"main"</a:t>
            </a:r>
            <a:r>
              <a:rPr sz="1000" i="0">
                <a:solidFill>
                  <a:srgbClr val="E6EDF3"/>
                </a:solidFill>
                <a:latin typeface="Menlo"/>
              </a:rPr>
              <a:t>, </a:t>
            </a:r>
            <a:r>
              <a:rPr sz="1000" i="0">
                <a:solidFill>
                  <a:srgbClr val="A5D6A0"/>
                </a:solidFill>
                <a:latin typeface="Menlo"/>
              </a:rPr>
              <a:t>"name"</a:t>
            </a:r>
            <a:r>
              <a:rPr sz="1000" i="0">
                <a:solidFill>
                  <a:srgbClr val="E6EDF3"/>
                </a:solidFill>
                <a:latin typeface="Menlo"/>
              </a:rPr>
              <a:t>, { </a:t>
            </a:r>
            <a:r>
              <a:rPr sz="1000" i="0">
                <a:solidFill>
                  <a:srgbClr val="E6EDF3"/>
                </a:solidFill>
                <a:latin typeface="Menlo"/>
              </a:rPr>
              <a:t>label</a:t>
            </a:r>
            <a:r>
              <a:rPr sz="1000" i="0">
                <a:solidFill>
                  <a:srgbClr val="E6EDF3"/>
                </a:solidFill>
                <a:latin typeface="Menlo"/>
              </a:rPr>
              <a:t> = </a:t>
            </a:r>
            <a:r>
              <a:rPr sz="1000" i="0">
                <a:solidFill>
                  <a:srgbClr val="A5D6A0"/>
                </a:solidFill>
                <a:latin typeface="Menlo"/>
              </a:rPr>
              <a:t>"Your name"</a:t>
            </a:r>
            <a:r>
              <a:rPr sz="1000" i="0">
                <a:solidFill>
                  <a:srgbClr val="E6EDF3"/>
                </a:solidFill>
                <a:latin typeface="Menlo"/>
              </a:rPr>
              <a:t>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Menlo"/>
              </a:rPr>
              <a:t>  </a:t>
            </a:r>
            <a:r>
              <a:rPr sz="1000" i="1">
                <a:solidFill>
                  <a:srgbClr val="C5E0B4"/>
                </a:solidFill>
                <a:latin typeface="Menlo"/>
              </a:rPr>
              <a:t>k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ctrl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button</a:t>
            </a:r>
            <a:r>
              <a:rPr sz="1000" i="0">
                <a:solidFill>
                  <a:srgbClr val="E6EDF3"/>
                </a:solidFill>
                <a:latin typeface="Menlo"/>
              </a:rPr>
              <a:t>(</a:t>
            </a:r>
            <a:r>
              <a:rPr sz="1000" i="0">
                <a:solidFill>
                  <a:srgbClr val="A5D6A0"/>
                </a:solidFill>
                <a:latin typeface="Menlo"/>
              </a:rPr>
              <a:t>"main"</a:t>
            </a:r>
            <a:r>
              <a:rPr sz="1000" i="0">
                <a:solidFill>
                  <a:srgbClr val="E6EDF3"/>
                </a:solidFill>
                <a:latin typeface="Menlo"/>
              </a:rPr>
              <a:t>, </a:t>
            </a:r>
            <a:r>
              <a:rPr sz="1000" i="0">
                <a:solidFill>
                  <a:srgbClr val="A5D6A0"/>
                </a:solidFill>
                <a:latin typeface="Menlo"/>
              </a:rPr>
              <a:t>"go"</a:t>
            </a:r>
            <a:r>
              <a:rPr sz="1000" i="0">
                <a:solidFill>
                  <a:srgbClr val="E6EDF3"/>
                </a:solidFill>
                <a:latin typeface="Menlo"/>
              </a:rPr>
              <a:t>, { </a:t>
            </a:r>
            <a:r>
              <a:rPr sz="1000" i="0">
                <a:solidFill>
                  <a:srgbClr val="E6EDF3"/>
                </a:solidFill>
                <a:latin typeface="Menlo"/>
              </a:rPr>
              <a:t>label</a:t>
            </a:r>
            <a:r>
              <a:rPr sz="1000" i="0">
                <a:solidFill>
                  <a:srgbClr val="E6EDF3"/>
                </a:solidFill>
                <a:latin typeface="Menlo"/>
              </a:rPr>
              <a:t> = </a:t>
            </a:r>
            <a:r>
              <a:rPr sz="1000" i="0">
                <a:solidFill>
                  <a:srgbClr val="A5D6A0"/>
                </a:solidFill>
                <a:latin typeface="Menlo"/>
              </a:rPr>
              <a:t>"Go"</a:t>
            </a:r>
            <a:r>
              <a:rPr sz="1000" i="0">
                <a:solidFill>
                  <a:srgbClr val="E6EDF3"/>
                </a:solidFill>
                <a:latin typeface="Menlo"/>
              </a:rPr>
              <a:t>, </a:t>
            </a:r>
            <a:r>
              <a:rPr sz="1000" i="0">
                <a:solidFill>
                  <a:srgbClr val="E6EDF3"/>
                </a:solidFill>
                <a:latin typeface="Menlo"/>
              </a:rPr>
              <a:t>onclick</a:t>
            </a:r>
            <a:r>
              <a:rPr sz="1000" i="0">
                <a:solidFill>
                  <a:srgbClr val="E6EDF3"/>
                </a:solidFill>
                <a:latin typeface="Menlo"/>
              </a:rPr>
              <a:t> = </a:t>
            </a:r>
            <a:r>
              <a:rPr sz="1000" i="0">
                <a:solidFill>
                  <a:srgbClr val="E6EDF3"/>
                </a:solidFill>
                <a:latin typeface="Menlo"/>
              </a:rPr>
              <a:t>greet</a:t>
            </a:r>
            <a:r>
              <a:rPr sz="1000" i="0">
                <a:solidFill>
                  <a:srgbClr val="E6EDF3"/>
                </a:solidFill>
                <a:latin typeface="Menlo"/>
              </a:rPr>
              <a:t>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Menlo"/>
              </a:rPr>
              <a:t>  </a:t>
            </a:r>
            <a:r>
              <a:rPr sz="1000" i="1">
                <a:solidFill>
                  <a:srgbClr val="C5E0B4"/>
                </a:solidFill>
                <a:latin typeface="Menlo"/>
              </a:rPr>
              <a:t>k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form</a:t>
            </a:r>
            <a:r>
              <a:rPr sz="1000" i="0">
                <a:solidFill>
                  <a:srgbClr val="E6EDF3"/>
                </a:solidFill>
                <a:latin typeface="Menlo"/>
              </a:rPr>
              <a:t>.</a:t>
            </a:r>
            <a:r>
              <a:rPr sz="1000" i="0">
                <a:solidFill>
                  <a:srgbClr val="E6EDF3"/>
                </a:solidFill>
                <a:latin typeface="Menlo"/>
              </a:rPr>
              <a:t>show</a:t>
            </a:r>
            <a:r>
              <a:rPr sz="1000" i="0">
                <a:solidFill>
                  <a:srgbClr val="E6EDF3"/>
                </a:solidFill>
                <a:latin typeface="Menlo"/>
              </a:rPr>
              <a:t>(</a:t>
            </a:r>
            <a:r>
              <a:rPr sz="1000" i="0">
                <a:solidFill>
                  <a:srgbClr val="A5D6A0"/>
                </a:solidFill>
                <a:latin typeface="Menlo"/>
              </a:rPr>
              <a:t>"main"</a:t>
            </a:r>
            <a:r>
              <a:rPr sz="1000" i="0">
                <a:solidFill>
                  <a:srgbClr val="E6EDF3"/>
                </a:solidFill>
                <a:latin typeface="Menl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i="0">
                <a:solidFill>
                  <a:srgbClr val="7EC6F0"/>
                </a:solidFill>
                <a:latin typeface="Menlo"/>
              </a:rPr>
              <a:t>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206240"/>
            <a:ext cx="6766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673"/>
                </a:solidFill>
                <a:latin typeface="Calibri"/>
              </a:rPr>
              <a:t>THE WHOLE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443984"/>
            <a:ext cx="39163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t>One binary, every surface</a:t>
            </a:r>
          </a:p>
          <a:p>
            <a:r>
              <a:t>•  CLI  ·  run / serve / check / builder / ai</a:t>
            </a:r>
          </a:p>
          <a:p>
            <a:r>
              <a:t>•  Editor  ·  LSP + VSCode extension</a:t>
            </a:r>
          </a:p>
          <a:p>
            <a:r>
              <a:t>•  Browser  ·  pixel-accurate Builder preview</a:t>
            </a:r>
          </a:p>
          <a:p>
            <a:r>
              <a:t>•  Agents  ·  MCP server (protocol 2025-06-18)</a:t>
            </a:r>
          </a:p>
          <a:p>
            <a:r>
              <a:t>•  In-browser  ·  wasm-bundle → static dist/, no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9963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Calibri"/>
              </a:rPr>
              <a:t>Source of truth: docs/USER_GUIDE.md   ·   High-level platform walkthrough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2918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Browse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56616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 wasm-bundle → static page, 100% client-side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C8EBF"/>
                </a:solidFill>
                <a:latin typeface="Calibri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What KALUA is — and why it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6096291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F2933"/>
                </a:solidFill>
                <a:latin typeface="Calibri"/>
              </a:rPr>
              <a:t>•  A </a:t>
            </a:r>
            <a:r>
              <a:rPr sz="1150" b="1" i="0">
                <a:solidFill>
                  <a:srgbClr val="1F2933"/>
                </a:solidFill>
                <a:latin typeface="Calibri"/>
              </a:rPr>
              <a:t>Go runtime embedding a sandboxed gopher-lua VM</a:t>
            </a:r>
            <a:r>
              <a:rPr sz="1150" b="0" i="0">
                <a:solidFill>
                  <a:srgbClr val="1F2933"/>
                </a:solidFill>
                <a:latin typeface="Calibri"/>
              </a:rPr>
              <a:t> — plain Lua 5.1-style syntax, no compilation step.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F2933"/>
                </a:solidFill>
                <a:latin typeface="Calibri"/>
              </a:rPr>
              <a:t>One binary runs any app.</a:t>
            </a:r>
            <a:r>
              <a:rPr sz="1150" b="0" i="0">
                <a:solidFill>
                  <a:srgbClr val="1F2933"/>
                </a:solidFill>
                <a:latin typeface="Calibri"/>
              </a:rPr>
              <a:t> `KALUA run app.lua` serves it as a web app in seconds.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F2933"/>
                </a:solidFill>
                <a:latin typeface="Calibri"/>
              </a:rPr>
              <a:t>Kalipso heritage.</a:t>
            </a:r>
            <a:r>
              <a:rPr sz="1150" b="0" i="0">
                <a:solidFill>
                  <a:srgbClr val="1F2933"/>
                </a:solidFill>
                <a:latin typeface="Calibri"/>
              </a:rPr>
              <a:t> The `k.*` API mirrors the Sysdev Mobile *Kalipso* low-code platform — `k.form`, `k.ctrl`, data formats, DB, file and comm functions — so Kalipso logic ports across almost directly.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F2933"/>
                </a:solidFill>
                <a:latin typeface="Calibri"/>
              </a:rPr>
              <a:t>Browser-native.</a:t>
            </a:r>
            <a:r>
              <a:rPr sz="1150" b="0" i="0">
                <a:solidFill>
                  <a:srgbClr val="1F2933"/>
                </a:solidFill>
                <a:latin typeface="Calibri"/>
              </a:rPr>
              <a:t> Forms, 11 control types and Chart.js charts are rendered server-side and driven over WebSocket.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F2933"/>
                </a:solidFill>
                <a:latin typeface="Calibri"/>
              </a:rPr>
              <a:t>Headless when you want it.</a:t>
            </a:r>
            <a:r>
              <a:rPr sz="1150" b="0" i="0">
                <a:solidFill>
                  <a:srgbClr val="1F2933"/>
                </a:solidFill>
                <a:latin typeface="Calibri"/>
              </a:rPr>
              <a:t> The same binary exposes `handle_http` / `handle_ws` / `handle_tcp` as an API server.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F2933"/>
                </a:solidFill>
                <a:latin typeface="Calibri"/>
              </a:rPr>
              <a:t>Integrations in the box.</a:t>
            </a:r>
            <a:r>
              <a:rPr sz="1150" b="0" i="0">
                <a:solidFill>
                  <a:srgbClr val="1F2933"/>
                </a:solidFill>
                <a:latin typeface="Calibri"/>
              </a:rPr>
              <a:t> JSON · XML · CSV · INI · YAML, SQLite/MySQL/Postgres/SQL Server, FTP · SMTP · POP3 · SOAP, AES/RSA crypto, ZIP.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3531" y="1335024"/>
            <a:ext cx="4815244" cy="320040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73531" y="1335024"/>
            <a:ext cx="50292" cy="32004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4699" y="1463040"/>
            <a:ext cx="44311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95C"/>
                </a:solidFill>
                <a:latin typeface="Calibri"/>
              </a:rPr>
              <a:t>The script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4699" y="1755648"/>
            <a:ext cx="4431196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Must define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`function main()`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— the entry point.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All capability lives in `k.*`; value semantics in `K.*`.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Script globals: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`ARGS`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,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`CTRL(name)`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, `main`.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Async calls (`k.msgbox`, `k.http_request`, …) look synchronous — the coroutine suspends for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00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2828"/>
                </a:solidFill>
                <a:latin typeface="Calibri"/>
              </a:rPr>
              <a:t>SANDBOX — what a script cannot 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74336"/>
            <a:ext cx="709574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require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2222" y="4974336"/>
            <a:ext cx="548640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0590" y="4974336"/>
            <a:ext cx="629107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dofile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9425" y="4974336"/>
            <a:ext cx="790041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loadfile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9195" y="4974336"/>
            <a:ext cx="468172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7096" y="4974336"/>
            <a:ext cx="950975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loadstring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4974336"/>
            <a:ext cx="307238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4766" y="4974336"/>
            <a:ext cx="950975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os.execute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5470" y="4974336"/>
            <a:ext cx="709574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os.exit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4772" y="4974336"/>
            <a:ext cx="870508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os.getenv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35009" y="4974336"/>
            <a:ext cx="870508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os.remove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15246" y="4974336"/>
            <a:ext cx="1272844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collectgarbage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97819" y="4974336"/>
            <a:ext cx="629107" cy="265176"/>
          </a:xfrm>
          <a:prstGeom prst="roundRect">
            <a:avLst>
              <a:gd name="adj" fmla="val 28000"/>
            </a:avLst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rawset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03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Calibri"/>
              </a:rPr>
              <a:t>Attempting any of these is a </a:t>
            </a:r>
            <a:r>
              <a:rPr sz="1000" b="1" i="0">
                <a:solidFill>
                  <a:srgbClr val="5A6673"/>
                </a:solidFill>
                <a:latin typeface="Calibri"/>
              </a:rPr>
              <a:t>runtime error</a:t>
            </a:r>
            <a:r>
              <a:rPr sz="1000" b="0" i="0">
                <a:solidFill>
                  <a:srgbClr val="5A6673"/>
                </a:solidFill>
                <a:latin typeface="Calibri"/>
              </a:rPr>
              <a:t> — use `k.print(...)` for output, `k.file_*` for files, `k.sql` / `k.connect_db` for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C8EB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t>Four run modes, one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35024"/>
            <a:ext cx="3246120" cy="65836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1430">
            <a:solidFill>
              <a:srgbClr val="D8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44752"/>
            <a:ext cx="299008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app.lua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Calibri"/>
              </a:rPr>
              <a:t>plain Lua script, defines main()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31335" y="1563623"/>
            <a:ext cx="559155" cy="201168"/>
          </a:xfrm>
          <a:prstGeom prst="rightArrow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2787" y="1335024"/>
            <a:ext cx="3246120" cy="658368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143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0803" y="1444752"/>
            <a:ext cx="299008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KALUA CLI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Calibri"/>
              </a:rPr>
              <a:t>run  ·  serve  ·  check  ·  builder  ·  ai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01203" y="1563623"/>
            <a:ext cx="559155" cy="201168"/>
          </a:xfrm>
          <a:prstGeom prst="rightArrow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42655" y="1335024"/>
            <a:ext cx="3246120" cy="658368"/>
          </a:xfrm>
          <a:prstGeom prst="roundRect">
            <a:avLst>
              <a:gd name="adj" fmla="val 6000"/>
            </a:avLst>
          </a:prstGeom>
          <a:solidFill>
            <a:srgbClr val="F4F9FC"/>
          </a:solidFill>
          <a:ln w="1143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0671" y="1444752"/>
            <a:ext cx="299008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Go 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Calibri"/>
              </a:rPr>
              <a:t>net/http + WebSocket + sandboxed gopher-lua VM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67712"/>
            <a:ext cx="5437479" cy="2212848"/>
          </a:xfrm>
          <a:prstGeom prst="roundRect">
            <a:avLst>
              <a:gd name="adj" fmla="val 3000"/>
            </a:avLst>
          </a:prstGeom>
          <a:solidFill>
            <a:srgbClr val="F4F9FC"/>
          </a:solidFill>
          <a:ln w="1143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86584"/>
            <a:ext cx="50717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KALUA run — interactive web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24912"/>
            <a:ext cx="155646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798064"/>
            <a:ext cx="139186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F5D8C"/>
                </a:solidFill>
                <a:latin typeface="Calibri"/>
              </a:rPr>
              <a:t>Browser tab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one Lua state per tab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69693" y="3026664"/>
            <a:ext cx="146304" cy="182880"/>
          </a:xfrm>
          <a:prstGeom prst="rightArrow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43429" y="2724912"/>
            <a:ext cx="155646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5725" y="2798064"/>
            <a:ext cx="139186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F5D8C"/>
                </a:solidFill>
                <a:latin typeface="Calibri"/>
              </a:rPr>
              <a:t>Session actor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inbox ← WS + timers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outbox → templ → WS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27322" y="3026664"/>
            <a:ext cx="146304" cy="182880"/>
          </a:xfrm>
          <a:prstGeom prst="rightArrow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1058" y="2724912"/>
            <a:ext cx="155646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3354" y="2798064"/>
            <a:ext cx="139186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F5D8C"/>
                </a:solidFill>
                <a:latin typeface="Calibri"/>
              </a:rPr>
              <a:t>k.form.* / k.ctrl.*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builds the UI declaratively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21024"/>
            <a:ext cx="50717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Calibri"/>
              </a:rPr>
              <a:t>Each tab gets its own sandboxed VM; UI events arrive on the session inbox, UI commands go out over WebSocket.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1295" y="2267712"/>
            <a:ext cx="5437479" cy="2212848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143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4175" y="2386584"/>
            <a:ext cx="50717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95C"/>
                </a:solidFill>
                <a:latin typeface="Calibri"/>
              </a:rPr>
              <a:t>KALUA serve — headless API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4175" y="2724912"/>
            <a:ext cx="155646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6471" y="2798064"/>
            <a:ext cx="139186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695C"/>
                </a:solidFill>
                <a:latin typeface="Calibri"/>
              </a:rPr>
              <a:t>API client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HTTP · WebSocket · TCP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018068" y="3026664"/>
            <a:ext cx="146304" cy="182880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91804" y="2724912"/>
            <a:ext cx="155646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4100" y="2798064"/>
            <a:ext cx="139186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695C"/>
                </a:solidFill>
                <a:latin typeface="Calibri"/>
              </a:rPr>
              <a:t>Worker pool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N Lua VMs, one per request/conn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75697" y="3026664"/>
            <a:ext cx="146304" cy="182880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49433" y="2724912"/>
            <a:ext cx="1556461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1729" y="2798064"/>
            <a:ext cx="139186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0695C"/>
                </a:solidFill>
                <a:latin typeface="Calibri"/>
              </a:rPr>
              <a:t>k.shared.*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thread-safe state across workers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4175" y="3621024"/>
            <a:ext cx="50717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Calibri"/>
              </a:rPr>
              <a:t>Handlers handle_http / handle_ws / handle_tcp run in a fresh coroutine per event; a per-worker mutex serialises entry.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26864"/>
            <a:ext cx="357621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626864"/>
            <a:ext cx="45720" cy="512064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4709160"/>
            <a:ext cx="33018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C8EBF"/>
                </a:solidFill>
                <a:latin typeface="Calibri"/>
              </a:rPr>
              <a:t>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127.0.0.1:9000  ·  --watch hot reload (400 ms poll)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7738" y="4626864"/>
            <a:ext cx="357621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7738" y="4626864"/>
            <a:ext cx="45720" cy="512064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72330" y="4709160"/>
            <a:ext cx="33018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00695C"/>
                </a:solidFill>
                <a:latin typeface="Calibri"/>
              </a:rPr>
              <a:t>serve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127.0.0.1:8080  ·  SIGHUP swaps the worker pool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2556" y="4626864"/>
            <a:ext cx="3576218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12556" y="4626864"/>
            <a:ext cx="45720" cy="5120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7148" y="4709160"/>
            <a:ext cx="33018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C62828"/>
                </a:solidFill>
                <a:latin typeface="Calibri"/>
              </a:rPr>
              <a:t>UI in serve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form/control bindings raise a runtime 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212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KALUA wasm — run 100% client-side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50468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 wasm-bundle → static index.html + KALUA.wasm, no server · runs the whole runtime in-page</a:t>
            </a:r>
          </a:p>
          <a:p>
            <a:r>
              <a:t>•  Go „brain“ (routing / state / rendering) + app.minimal.js „hands“ · optional relay bridges MySQL/PG/MSSQL/FTP/SMTP/POP3/TCP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1F"/>
                </a:solidFill>
                <a:latin typeface="Calibri"/>
              </a:rPr>
              <a:t>COMMAND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CLI overview — nine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73"/>
                </a:solidFill>
                <a:latin typeface="Calibri"/>
              </a:rPr>
              <a:t>`KALUA &lt;command&gt; [args...]`   ·   flags may appear before </a:t>
            </a:r>
            <a:r>
              <a:rPr sz="1050" b="1" i="0">
                <a:solidFill>
                  <a:srgbClr val="5A6673"/>
                </a:solidFill>
                <a:latin typeface="Calibri"/>
              </a:rPr>
              <a:t>or</a:t>
            </a:r>
            <a:r>
              <a:rPr sz="1050" b="0" i="0">
                <a:solidFill>
                  <a:srgbClr val="5A6673"/>
                </a:solidFill>
                <a:latin typeface="Calibri"/>
              </a:rPr>
              <a:t> after the script argument   ·   every command accepts `--ini PATH`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7"/>
          <a:ext cx="11185855" cy="3273552"/>
        </p:xfrm>
        <a:graphic>
          <a:graphicData uri="http://schemas.openxmlformats.org/drawingml/2006/table">
            <a:tbl>
              <a:tblPr firstRow="0" bandRow="0" firstCol="0" lastRow="0" lastCol="0">
                <a:tableStyleId>{2D5ABB26-0587-4C30-8999-92F81FD0307C}</a:tableStyleId>
              </a:tblPr>
              <a:tblGrid>
                <a:gridCol w="1234440"/>
                <a:gridCol w="2377440"/>
                <a:gridCol w="7573975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 marL="64008" marR="64008" marT="18288" marB="18288">
                    <a:solidFill>
                      <a:srgbClr val="8A6D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Arguments</a:t>
                      </a:r>
                    </a:p>
                  </a:txBody>
                  <a:tcPr anchor="ctr" marL="64008" marR="64008" marT="18288" marB="18288">
                    <a:solidFill>
                      <a:srgbClr val="8A6D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64008" marR="64008" marT="18288" marB="18288">
                    <a:solidFill>
                      <a:srgbClr val="8A6D1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`&lt;app.lua&gt;` [flags]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Run as an interactive web app — forms &amp; controls in the browser; `--watch` hot-reloads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serve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`&lt;app.lua&gt;` [flags]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Run as a headless HTTP / WebSocket / TCP API server with a worker pool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`&lt;app.lua&gt;` [flags]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Static validation (syntax, unknown `k.*`, missing `main()`) </a:t>
                      </a:r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and</a:t>
                      </a: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 a gofmt-style formatter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builder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`&lt;app.lua|form.json&gt;`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Visual multi-form editor with a pixel-accurate preview and an AI chat panel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`generate | fix | validate`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Natural language → Lua, auto-fix of validation errors, LLM-assisted static check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`&lt;name&gt;`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Scaffold a minimal runnable `&lt;name&gt;.lua`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lsp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Language Server over stdio — completion, hover, diagnostics, go-to-definition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t>wasm-bundle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`&lt;app.lua&gt;` [-o dist/] [--relay]   (relay = localhost bridge)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Self-contained static page (index.html + KALUA.wasm) — runs 100% client-side; --relay also ships the localhost DB/comm bridge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8A6D1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Print the version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138927"/>
            <a:ext cx="5425139" cy="9144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38927"/>
            <a:ext cx="50292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266943"/>
            <a:ext cx="50410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Typical dev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559551"/>
            <a:ext cx="50410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`go build -o KALUA ./cmd/KALUA` → `./KALUA new myapp` → `./KALUA run myapp.lua --watch`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35" y="5138927"/>
            <a:ext cx="5425139" cy="914400"/>
          </a:xfrm>
          <a:prstGeom prst="roundRect">
            <a:avLst>
              <a:gd name="adj" fmla="val 3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35" y="5138927"/>
            <a:ext cx="50292" cy="91440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3" y="5266943"/>
            <a:ext cx="50410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D8C"/>
                </a:solidFill>
                <a:latin typeface="Calibri"/>
              </a:rPr>
              <a:t>Exit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3" y="5559551"/>
            <a:ext cx="50410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`0` OK   ·   `1` script/runtime error   ·   `2` CLI usage error   ·   `3` file I/O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1F"/>
                </a:solidFill>
                <a:latin typeface="Calibri"/>
              </a:rPr>
              <a:t>COMMAND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Flags — `run` and `serve`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4374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5D8C"/>
                </a:solidFill>
                <a:latin typeface="Calibri"/>
              </a:rPr>
              <a:t>KALUA run &lt;app.lua&gt;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27632"/>
          <a:ext cx="5437479" cy="3456432"/>
        </p:xfrm>
        <a:graphic>
          <a:graphicData uri="http://schemas.openxmlformats.org/drawingml/2006/table">
            <a:tbl>
              <a:tblPr firstRow="0" bandRow="0" firstCol="0" lastRow="0" lastCol="0">
                <a:tableStyleId>{2D5ABB26-0587-4C30-8999-92F81FD0307C}</a:tableStyleId>
              </a:tblPr>
              <a:tblGrid>
                <a:gridCol w="1600200"/>
                <a:gridCol w="640080"/>
                <a:gridCol w="3197199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anchor="ctr" marL="64008" marR="64008" marT="18288" marB="18288">
                    <a:solidFill>
                      <a:srgbClr val="2F5D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anchor="ctr" marL="64008" marR="64008" marT="18288" marB="18288">
                    <a:solidFill>
                      <a:srgbClr val="2F5D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64008" marR="64008" marT="18288" marB="18288">
                    <a:solidFill>
                      <a:srgbClr val="2F5D8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`-p`, `--port N`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9000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HTTP port; `0` picks a free ephemeral port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`-n`, `--no-browser`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Do not auto-open the browser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`-l`, `--session-limit N`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Max concurrent browser tabs (sessions)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`--test`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Headless: no HTTP server, runs `main()` once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`--watch`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Hot-reload every open tab on change (SIGHUP too)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`-v`, `--verbose`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Trace all `k.*` calls + full stack on error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`--repl-on-error`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Interactive Lua REPL at the crash site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`--debug`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EmmyLua debugger — Tier 2 stub, not yet implemented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`-d`, `--db NAME=DSN`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Pre-register a named DB handle (repeatable)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`-a`, `--arg K=V`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Seed the `ARGS` global table (repeatable)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`-f`, `--allow-fs PATH`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Allow file access outside the CWD (repeatable)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2F5D8C"/>
                          </a:solidFill>
                          <a:latin typeface="Calibri"/>
                        </a:rPr>
                        <a:t>`--ini PATH`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Read persistent flag values from `KALUA.INI`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51295" y="1335024"/>
            <a:ext cx="54374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95C"/>
                </a:solidFill>
                <a:latin typeface="Calibri"/>
              </a:rPr>
              <a:t>KALUA serve &lt;app.lua&gt;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51295" y="1627632"/>
          <a:ext cx="5437479" cy="2542032"/>
        </p:xfrm>
        <a:graphic>
          <a:graphicData uri="http://schemas.openxmlformats.org/drawingml/2006/table">
            <a:tbl>
              <a:tblPr firstRow="0" bandRow="0" firstCol="0" lastRow="0" lastCol="0">
                <a:tableStyleId>{2D5ABB26-0587-4C30-8999-92F81FD0307C}</a:tableStyleId>
              </a:tblPr>
              <a:tblGrid>
                <a:gridCol w="1737360"/>
                <a:gridCol w="685800"/>
                <a:gridCol w="3014319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anchor="ctr" marL="64008" marR="64008" marT="18288" marB="18288">
                    <a:solidFill>
                      <a:srgbClr val="006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anchor="ctr" marL="64008" marR="64008" marT="18288" marB="18288">
                    <a:solidFill>
                      <a:srgbClr val="006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64008" marR="64008" marT="18288" marB="18288">
                    <a:solidFill>
                      <a:srgbClr val="00695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`--host H`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127.0.0.1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Bind address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`-p`, `--port N`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8080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HTTP port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`-w`, `--workers N`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Number of Lua worker VMs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`-m`, `--mode m`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Comma-separated `http`, `ws`, `tcp` — or any combination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`-v`, `--verbose`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Verbose `k.*` tracing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`--debug` / `--debug-worker`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EmmyLua debugger stubs — not yet implemented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`-d`, `-a`, `-f`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`--db`, `--arg`, `--allow-fs` — same as `run`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0695C"/>
                          </a:solidFill>
                          <a:latin typeface="Calibri"/>
                        </a:rPr>
                        <a:t>`--ini PATH`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Read persistent flag values from `KALUA.INI`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51295" y="4352544"/>
            <a:ext cx="5437479" cy="1170432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1295" y="4352544"/>
            <a:ext cx="50292" cy="117043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463" y="4480560"/>
            <a:ext cx="5053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Calibri"/>
              </a:rPr>
              <a:t>Signals (serve)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2463" y="4773168"/>
            <a:ext cx="50534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SIGTERM / SIGINT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— graceful shutdown; runs the optional `shutdown()` hook once.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SIGHUP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— hot reload: recompiles the script and atomically swaps the worker pool. In-flight requests and open connections finish on the old workers; a reload error keeps the old pool serving.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1F"/>
                </a:solidFill>
                <a:latin typeface="Calibri"/>
              </a:rPr>
              <a:t>COMMAND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`check` — validate and format; plus the small utilities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61522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6D1F"/>
                </a:solidFill>
                <a:latin typeface="Calibri"/>
              </a:rPr>
              <a:t>KALUA check &lt;app.lua&gt;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61522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Validation (default):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reports syntax errors, unknown `k.*` references and a missing `main()`. Executes nothing.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Formatting: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pass one flag and it stops validating and formats instead — 2-space indent, normalised spacing, comments and strings preserved byte-for-byte, idempotent, and the output is re-parsed before it is ever written.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816352"/>
          <a:ext cx="6152220" cy="1408176"/>
        </p:xfrm>
        <a:graphic>
          <a:graphicData uri="http://schemas.openxmlformats.org/drawingml/2006/table">
            <a:tbl>
              <a:tblPr firstRow="0" bandRow="0" firstCol="0" lastRow="0" lastCol="0">
                <a:tableStyleId>{2D5ABB26-0587-4C30-8999-92F81FD0307C}</a:tableStyleId>
              </a:tblPr>
              <a:tblGrid>
                <a:gridCol w="1188720"/>
                <a:gridCol w="496350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Formatter flag</a:t>
                      </a:r>
                    </a:p>
                  </a:txBody>
                  <a:tcPr anchor="ctr" marL="64008" marR="64008" marT="18288" marB="18288">
                    <a:solidFill>
                      <a:srgbClr val="8A6D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anchor="ctr" marL="64008" marR="64008" marT="18288" marB="18288">
                    <a:solidFill>
                      <a:srgbClr val="8A6D1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8A6D1F"/>
                          </a:solidFill>
                          <a:latin typeface="Calibri"/>
                        </a:rPr>
                        <a:t>`--format`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Print the formatted source to stdout (file untouched), exit 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8A6D1F"/>
                          </a:solidFill>
                          <a:latin typeface="Calibri"/>
                        </a:rPr>
                        <a:t>`-w`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Write the formatted source back in place, preserving permissions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8A6D1F"/>
                          </a:solidFill>
                          <a:latin typeface="Calibri"/>
                        </a:rPr>
                        <a:t>`-l`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List files whose formatting differs (exit 1 if any) — supports `check -l *.lua`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8A6D1F"/>
                          </a:solidFill>
                          <a:latin typeface="Calibri"/>
                        </a:rPr>
                        <a:t>`-d`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Print a 0-context unified diff of the changes (exit 1 if any)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389120"/>
            <a:ext cx="6152220" cy="1078992"/>
          </a:xfrm>
          <a:prstGeom prst="roundRect">
            <a:avLst>
              <a:gd name="adj" fmla="val 3000"/>
            </a:avLst>
          </a:prstGeom>
          <a:solidFill>
            <a:srgbClr val="FCE4EC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389120"/>
            <a:ext cx="50292" cy="107899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517136"/>
            <a:ext cx="57681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Calibri"/>
              </a:rPr>
              <a:t>Rules of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809744"/>
            <a:ext cx="576817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Priority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`-w` &gt; `-d` &gt; `-l` &gt; `--format`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. One file: flag anywhere. Several files: flag first.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Unparseable input → error on stderr, exit 1,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nothing written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. The `[CHECK]` INI section accepts `format`, `w`, `l`, `d`, `verbose`.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7748" y="1335024"/>
            <a:ext cx="4741026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7748" y="1335024"/>
            <a:ext cx="45720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0628" y="1435608"/>
            <a:ext cx="4375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new</a:t>
            </a:r>
            <a:r>
              <a:rPr sz="900" b="0">
                <a:solidFill>
                  <a:srgbClr val="5A6673"/>
                </a:solidFill>
                <a:latin typeface="Calibri"/>
              </a:rPr>
              <a:t>   Scaffold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Writes a minimal runnable `&lt;name&gt;.lua` with a `main()` that prints a greeting.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7748" y="2212848"/>
            <a:ext cx="4741026" cy="896112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7748" y="2212848"/>
            <a:ext cx="45720" cy="896112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0628" y="2313432"/>
            <a:ext cx="437526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lsp</a:t>
            </a:r>
            <a:r>
              <a:rPr sz="900" b="0">
                <a:solidFill>
                  <a:srgbClr val="5A6673"/>
                </a:solidFill>
                <a:latin typeface="Calibri"/>
              </a:rPr>
              <a:t>   Language Server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Stdio LSP with Content-Length frames, UTF-8 positions. Completion, hover, diagnostics and go-to-definition all served from the generated API reference. Pairs with the bundled VSCode extension.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7748" y="3255263"/>
            <a:ext cx="4741026" cy="73152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7748" y="3255263"/>
            <a:ext cx="45720" cy="7315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0628" y="3355847"/>
            <a:ext cx="4375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A1B9A"/>
                </a:solidFill>
                <a:latin typeface="Calibri"/>
              </a:rPr>
              <a:t>mcp</a:t>
            </a:r>
            <a:r>
              <a:rPr sz="900" b="0">
                <a:solidFill>
                  <a:srgbClr val="5A6673"/>
                </a:solidFill>
                <a:latin typeface="Calibri"/>
              </a:rPr>
              <a:t>   Agent server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Stdio Model Context Protocol server (protocol 2025-06-18) exposing nine tools — see the AI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7748" y="4133087"/>
            <a:ext cx="4741026" cy="731520"/>
          </a:xfrm>
          <a:prstGeom prst="roundRect">
            <a:avLst>
              <a:gd name="adj" fmla="val 5000"/>
            </a:avLst>
          </a:prstGeom>
          <a:solidFill>
            <a:srgbClr val="D8DDE2"/>
          </a:solidFill>
          <a:ln w="9525">
            <a:solidFill>
              <a:srgbClr val="F5F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7748" y="4133087"/>
            <a:ext cx="45720" cy="7315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0628" y="4233672"/>
            <a:ext cx="4375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F6F7"/>
                </a:solidFill>
                <a:latin typeface="Calibri"/>
              </a:rPr>
              <a:t>version</a:t>
            </a:r>
            <a:r>
              <a:rPr sz="900" b="0">
                <a:solidFill>
                  <a:srgbClr val="5A6673"/>
                </a:solidFill>
                <a:latin typeface="Calibri"/>
              </a:rPr>
              <a:t>   Version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Prints the version string.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1F"/>
                </a:solidFill>
                <a:latin typeface="Calibri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KALUA.INI — persistent flag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35024"/>
            <a:ext cx="2508427" cy="420624"/>
          </a:xfrm>
          <a:prstGeom prst="roundRect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CLI flags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6211" y="1453895"/>
            <a:ext cx="274320" cy="182880"/>
          </a:xfrm>
          <a:prstGeom prst="rightArrow">
            <a:avLst/>
          </a:prstGeom>
          <a:solidFill>
            <a:srgbClr val="8C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95395" y="1335024"/>
            <a:ext cx="2508427" cy="420624"/>
          </a:xfrm>
          <a:prstGeom prst="roundRect">
            <a:avLst>
              <a:gd name="adj" fmla="val 28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KALUA.INI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1453895"/>
            <a:ext cx="274320" cy="182880"/>
          </a:xfrm>
          <a:prstGeom prst="rightArrow">
            <a:avLst/>
          </a:prstGeom>
          <a:solidFill>
            <a:srgbClr val="8C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1335024"/>
            <a:ext cx="2508427" cy="420624"/>
          </a:xfrm>
          <a:prstGeom prst="roundRect">
            <a:avLst>
              <a:gd name="adj" fmla="val 28000"/>
            </a:avLst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environment variables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51163" y="1453895"/>
            <a:ext cx="274320" cy="182880"/>
          </a:xfrm>
          <a:prstGeom prst="rightArrow">
            <a:avLst/>
          </a:prstGeom>
          <a:solidFill>
            <a:srgbClr val="8C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0347" y="1335024"/>
            <a:ext cx="2508427" cy="420624"/>
          </a:xfrm>
          <a:prstGeom prst="roundRect">
            <a:avLst>
              <a:gd name="adj" fmla="val 28000"/>
            </a:avLst>
          </a:prstGeom>
          <a:solidFill>
            <a:srgbClr val="8C9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built-in defaults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470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Calibri"/>
              </a:rPr>
              <a:t>Highest precedence first — an INI value only fills a flag that was </a:t>
            </a:r>
            <a:r>
              <a:rPr sz="1000" b="1" i="0">
                <a:solidFill>
                  <a:srgbClr val="5A6673"/>
                </a:solidFill>
                <a:latin typeface="Calibri"/>
              </a:rPr>
              <a:t>not</a:t>
            </a:r>
            <a:r>
              <a:rPr sz="1000" b="0" i="0">
                <a:solidFill>
                  <a:srgbClr val="5A6673"/>
                </a:solidFill>
                <a:latin typeface="Calibri"/>
              </a:rPr>
              <a:t> set on the command line, so command-line flags always win, even when the INI value would be invalid.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31136"/>
            <a:ext cx="5425139" cy="1664208"/>
          </a:xfrm>
          <a:prstGeom prst="roundRect">
            <a:avLst>
              <a:gd name="adj" fmla="val 3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231136"/>
            <a:ext cx="50292" cy="1664208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359152"/>
            <a:ext cx="50410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6D1F"/>
                </a:solidFill>
                <a:latin typeface="Calibri"/>
              </a:rPr>
              <a:t>Where the file is searched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651760"/>
            <a:ext cx="5041091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`--ini &lt;path&gt;`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on the command 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`KALUA_INI`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environment variable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`./KALUA.INI`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in the working directory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First hit wins. A missing default file is fine; requesting a non-existent path explicitly is an I/O error (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exit 3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2379" y="2231136"/>
            <a:ext cx="5425139" cy="1664208"/>
          </a:xfrm>
          <a:prstGeom prst="roundRect">
            <a:avLst>
              <a:gd name="adj" fmla="val 3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2379" y="2231136"/>
            <a:ext cx="50292" cy="1664208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3547" y="2359152"/>
            <a:ext cx="50410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3547" y="2651760"/>
            <a:ext cx="5041091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Standard INI: `[Section]` headers, `key = value`, `;` / `#` comments.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Sections bind to commands: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`[RUN] [SERVE] [BUILDER] [CHECK] [AI]`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; keys match the long flag names.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Section and key names are case-insensitive; `-` and `_` are interchangeable.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Booleans `1/true/yes/on` · `0/false/no/off`; a bare key means `true`. Repeated keys append (`db`, `arg`, `allow-fs`). Unknown keys are ignored.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59935"/>
            <a:ext cx="6711513" cy="1975104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169663"/>
            <a:ext cx="6418905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; ./</a:t>
            </a:r>
            <a:r>
              <a:rPr sz="900" i="0">
                <a:solidFill>
                  <a:srgbClr val="E6EDF3"/>
                </a:solidFill>
                <a:latin typeface="Menlo"/>
              </a:rPr>
              <a:t>KALUA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INI</a:t>
            </a:r>
            <a:r>
              <a:rPr sz="900" i="0">
                <a:solidFill>
                  <a:srgbClr val="E6EDF3"/>
                </a:solidFill>
                <a:latin typeface="Menlo"/>
              </a:rPr>
              <a:t>  -- </a:t>
            </a:r>
            <a:r>
              <a:rPr sz="900" i="0">
                <a:solidFill>
                  <a:srgbClr val="E6EDF3"/>
                </a:solidFill>
                <a:latin typeface="Menlo"/>
              </a:rPr>
              <a:t>copy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KALUA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ini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sample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to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get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started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[</a:t>
            </a:r>
            <a:r>
              <a:rPr sz="900" i="0">
                <a:solidFill>
                  <a:srgbClr val="E6EDF3"/>
                </a:solidFill>
                <a:latin typeface="Menlo"/>
              </a:rPr>
              <a:t>RUN</a:t>
            </a:r>
            <a:r>
              <a:rPr sz="900" i="0">
                <a:solidFill>
                  <a:srgbClr val="E6EDF3"/>
                </a:solidFill>
                <a:latin typeface="Menlo"/>
              </a:rPr>
              <a:t>]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no</a:t>
            </a:r>
            <a:r>
              <a:rPr sz="900" i="0">
                <a:solidFill>
                  <a:srgbClr val="E6EDF3"/>
                </a:solidFill>
                <a:latin typeface="Menlo"/>
              </a:rPr>
              <a:t>-</a:t>
            </a:r>
            <a:r>
              <a:rPr sz="900" i="0">
                <a:solidFill>
                  <a:srgbClr val="E6EDF3"/>
                </a:solidFill>
                <a:latin typeface="Menlo"/>
              </a:rPr>
              <a:t>browser</a:t>
            </a:r>
            <a:r>
              <a:rPr sz="900" i="0">
                <a:solidFill>
                  <a:srgbClr val="E6EDF3"/>
                </a:solidFill>
                <a:latin typeface="Menlo"/>
              </a:rPr>
              <a:t> = 1              ; </a:t>
            </a:r>
            <a:r>
              <a:rPr sz="900" i="0">
                <a:solidFill>
                  <a:srgbClr val="E6EDF3"/>
                </a:solidFill>
                <a:latin typeface="Menlo"/>
              </a:rPr>
              <a:t>never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auto</a:t>
            </a:r>
            <a:r>
              <a:rPr sz="900" i="0">
                <a:solidFill>
                  <a:srgbClr val="E6EDF3"/>
                </a:solidFill>
                <a:latin typeface="Menlo"/>
              </a:rPr>
              <a:t>-</a:t>
            </a:r>
            <a:r>
              <a:rPr sz="900" i="0">
                <a:solidFill>
                  <a:srgbClr val="E6EDF3"/>
                </a:solidFill>
                <a:latin typeface="Menlo"/>
              </a:rPr>
              <a:t>open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the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browser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port</a:t>
            </a:r>
            <a:r>
              <a:rPr sz="900" i="0">
                <a:solidFill>
                  <a:srgbClr val="E6EDF3"/>
                </a:solidFill>
                <a:latin typeface="Menlo"/>
              </a:rPr>
              <a:t>       = 9000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watch</a:t>
            </a:r>
            <a:r>
              <a:rPr sz="900" i="0">
                <a:solidFill>
                  <a:srgbClr val="E6EDF3"/>
                </a:solidFill>
                <a:latin typeface="Menlo"/>
              </a:rPr>
              <a:t>      = 1              ; </a:t>
            </a:r>
            <a:r>
              <a:rPr sz="900" i="0">
                <a:solidFill>
                  <a:srgbClr val="E6EDF3"/>
                </a:solidFill>
                <a:latin typeface="Menlo"/>
              </a:rPr>
              <a:t>hot</a:t>
            </a:r>
            <a:r>
              <a:rPr sz="900" i="0">
                <a:solidFill>
                  <a:srgbClr val="E6EDF3"/>
                </a:solidFill>
                <a:latin typeface="Menlo"/>
              </a:rPr>
              <a:t>-</a:t>
            </a:r>
            <a:r>
              <a:rPr sz="900" i="0">
                <a:solidFill>
                  <a:srgbClr val="E6EDF3"/>
                </a:solidFill>
                <a:latin typeface="Menlo"/>
              </a:rPr>
              <a:t>reload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on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change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; </a:t>
            </a:r>
            <a:r>
              <a:rPr sz="900" i="0">
                <a:solidFill>
                  <a:srgbClr val="E6EDF3"/>
                </a:solidFill>
                <a:latin typeface="Menlo"/>
              </a:rPr>
              <a:t>db</a:t>
            </a:r>
            <a:r>
              <a:rPr sz="900" i="0">
                <a:solidFill>
                  <a:srgbClr val="E6EDF3"/>
                </a:solidFill>
                <a:latin typeface="Menlo"/>
              </a:rPr>
              <a:t>        = </a:t>
            </a:r>
            <a:r>
              <a:rPr sz="900" i="0">
                <a:solidFill>
                  <a:srgbClr val="E6EDF3"/>
                </a:solidFill>
                <a:latin typeface="Menlo"/>
              </a:rPr>
              <a:t>main</a:t>
            </a:r>
            <a:r>
              <a:rPr sz="900" i="0">
                <a:solidFill>
                  <a:srgbClr val="E6EDF3"/>
                </a:solidFill>
                <a:latin typeface="Menlo"/>
              </a:rPr>
              <a:t>=</a:t>
            </a:r>
            <a:r>
              <a:rPr sz="900" i="0">
                <a:solidFill>
                  <a:srgbClr val="E6EDF3"/>
                </a:solidFill>
                <a:latin typeface="Menlo"/>
              </a:rPr>
              <a:t>sqlite</a:t>
            </a:r>
            <a:r>
              <a:rPr sz="900" i="0">
                <a:solidFill>
                  <a:srgbClr val="E6EDF3"/>
                </a:solidFill>
                <a:latin typeface="Menlo"/>
              </a:rPr>
              <a:t>://</a:t>
            </a:r>
            <a:r>
              <a:rPr sz="900" i="0">
                <a:solidFill>
                  <a:srgbClr val="E6EDF3"/>
                </a:solidFill>
                <a:latin typeface="Menlo"/>
              </a:rPr>
              <a:t>app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db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; </a:t>
            </a:r>
            <a:r>
              <a:rPr sz="900" i="0">
                <a:solidFill>
                  <a:srgbClr val="E6EDF3"/>
                </a:solidFill>
                <a:latin typeface="Menlo"/>
              </a:rPr>
              <a:t>arg</a:t>
            </a:r>
            <a:r>
              <a:rPr sz="900" i="0">
                <a:solidFill>
                  <a:srgbClr val="E6EDF3"/>
                </a:solidFill>
                <a:latin typeface="Menlo"/>
              </a:rPr>
              <a:t>       = </a:t>
            </a:r>
            <a:r>
              <a:rPr sz="900" i="0">
                <a:solidFill>
                  <a:srgbClr val="E6EDF3"/>
                </a:solidFill>
                <a:latin typeface="Menlo"/>
              </a:rPr>
              <a:t>env</a:t>
            </a:r>
            <a:r>
              <a:rPr sz="900" i="0">
                <a:solidFill>
                  <a:srgbClr val="E6EDF3"/>
                </a:solidFill>
                <a:latin typeface="Menlo"/>
              </a:rPr>
              <a:t>=</a:t>
            </a:r>
            <a:r>
              <a:rPr sz="900" i="0">
                <a:solidFill>
                  <a:srgbClr val="E6EDF3"/>
                </a:solidFill>
                <a:latin typeface="Menlo"/>
              </a:rPr>
              <a:t>dev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[</a:t>
            </a:r>
            <a:r>
              <a:rPr sz="900" i="0">
                <a:solidFill>
                  <a:srgbClr val="E6EDF3"/>
                </a:solidFill>
                <a:latin typeface="Menlo"/>
              </a:rPr>
              <a:t>AI</a:t>
            </a:r>
            <a:r>
              <a:rPr sz="900" i="0">
                <a:solidFill>
                  <a:srgbClr val="E6EDF3"/>
                </a:solidFill>
                <a:latin typeface="Menlo"/>
              </a:rPr>
              <a:t>]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KALUA_AI_BASE_URL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E6EDF3"/>
                </a:solidFill>
                <a:latin typeface="Menlo"/>
              </a:rPr>
              <a:t>https</a:t>
            </a:r>
            <a:r>
              <a:rPr sz="900" i="0">
                <a:solidFill>
                  <a:srgbClr val="E6EDF3"/>
                </a:solidFill>
                <a:latin typeface="Menlo"/>
              </a:rPr>
              <a:t>://</a:t>
            </a:r>
            <a:r>
              <a:rPr sz="900" i="0">
                <a:solidFill>
                  <a:srgbClr val="E6EDF3"/>
                </a:solidFill>
                <a:latin typeface="Menlo"/>
              </a:rPr>
              <a:t>openrouter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ai</a:t>
            </a:r>
            <a:r>
              <a:rPr sz="900" i="0">
                <a:solidFill>
                  <a:srgbClr val="E6EDF3"/>
                </a:solidFill>
                <a:latin typeface="Menlo"/>
              </a:rPr>
              <a:t>/</a:t>
            </a:r>
            <a:r>
              <a:rPr sz="900" i="0">
                <a:solidFill>
                  <a:srgbClr val="E6EDF3"/>
                </a:solidFill>
                <a:latin typeface="Menlo"/>
              </a:rPr>
              <a:t>api</a:t>
            </a:r>
            <a:r>
              <a:rPr sz="900" i="0">
                <a:solidFill>
                  <a:srgbClr val="E6EDF3"/>
                </a:solidFill>
                <a:latin typeface="Menlo"/>
              </a:rPr>
              <a:t>/</a:t>
            </a:r>
            <a:r>
              <a:rPr sz="900" i="0">
                <a:solidFill>
                  <a:srgbClr val="E6EDF3"/>
                </a:solidFill>
                <a:latin typeface="Menlo"/>
              </a:rPr>
              <a:t>v1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KALUA_AI_API_KEY</a:t>
            </a:r>
            <a:r>
              <a:rPr sz="900" i="0">
                <a:solidFill>
                  <a:srgbClr val="E6EDF3"/>
                </a:solidFill>
                <a:latin typeface="Menlo"/>
              </a:rPr>
              <a:t>  = </a:t>
            </a:r>
            <a:r>
              <a:rPr sz="900" i="0">
                <a:solidFill>
                  <a:srgbClr val="E6EDF3"/>
                </a:solidFill>
                <a:latin typeface="Menlo"/>
              </a:rPr>
              <a:t>sk</a:t>
            </a:r>
            <a:r>
              <a:rPr sz="900" i="0">
                <a:solidFill>
                  <a:srgbClr val="E6EDF3"/>
                </a:solidFill>
                <a:latin typeface="Menlo"/>
              </a:rPr>
              <a:t>-</a:t>
            </a:r>
            <a:r>
              <a:rPr sz="900" i="0">
                <a:solidFill>
                  <a:srgbClr val="7EC6F0"/>
                </a:solidFill>
                <a:latin typeface="Menlo"/>
              </a:rPr>
              <a:t>or</a:t>
            </a:r>
            <a:r>
              <a:rPr sz="900" i="0">
                <a:solidFill>
                  <a:srgbClr val="E6EDF3"/>
                </a:solidFill>
                <a:latin typeface="Menlo"/>
              </a:rPr>
              <a:t>-</a:t>
            </a:r>
            <a:r>
              <a:rPr sz="900" i="0">
                <a:solidFill>
                  <a:srgbClr val="E6EDF3"/>
                </a:solidFill>
                <a:latin typeface="Menlo"/>
              </a:rPr>
              <a:t>v1</a:t>
            </a:r>
            <a:r>
              <a:rPr sz="900" i="0">
                <a:solidFill>
                  <a:srgbClr val="E6EDF3"/>
                </a:solidFill>
                <a:latin typeface="Menlo"/>
              </a:rPr>
              <a:t>-...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KALUA_AI_MODEL</a:t>
            </a:r>
            <a:r>
              <a:rPr sz="900" i="0">
                <a:solidFill>
                  <a:srgbClr val="E6EDF3"/>
                </a:solidFill>
                <a:latin typeface="Menlo"/>
              </a:rPr>
              <a:t>    = </a:t>
            </a:r>
            <a:r>
              <a:rPr sz="900" i="0">
                <a:solidFill>
                  <a:srgbClr val="E6EDF3"/>
                </a:solidFill>
                <a:latin typeface="Menlo"/>
              </a:rPr>
              <a:t>nvidia</a:t>
            </a:r>
            <a:r>
              <a:rPr sz="900" i="0">
                <a:solidFill>
                  <a:srgbClr val="E6EDF3"/>
                </a:solidFill>
                <a:latin typeface="Menlo"/>
              </a:rPr>
              <a:t>/</a:t>
            </a:r>
            <a:r>
              <a:rPr sz="900" i="0">
                <a:solidFill>
                  <a:srgbClr val="E6EDF3"/>
                </a:solidFill>
                <a:latin typeface="Menlo"/>
              </a:rPr>
              <a:t>nemotron</a:t>
            </a:r>
            <a:r>
              <a:rPr sz="900" i="0">
                <a:solidFill>
                  <a:srgbClr val="E6EDF3"/>
                </a:solidFill>
                <a:latin typeface="Menlo"/>
              </a:rPr>
              <a:t>-3.5-</a:t>
            </a:r>
            <a:r>
              <a:rPr sz="900" i="0">
                <a:solidFill>
                  <a:srgbClr val="E6EDF3"/>
                </a:solidFill>
                <a:latin typeface="Menlo"/>
              </a:rPr>
              <a:t>lightning</a:t>
            </a:r>
            <a:r>
              <a:rPr sz="900" i="0">
                <a:solidFill>
                  <a:srgbClr val="E6EDF3"/>
                </a:solidFill>
                <a:latin typeface="Menlo"/>
              </a:rPr>
              <a:t>:</a:t>
            </a:r>
            <a:r>
              <a:rPr sz="900" i="0">
                <a:solidFill>
                  <a:srgbClr val="E6EDF3"/>
                </a:solidFill>
                <a:latin typeface="Menlo"/>
              </a:rPr>
              <a:t>free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822191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673"/>
                </a:solidFill>
                <a:latin typeface="Calibri"/>
              </a:rPr>
              <a:t>EXAMPLE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38150" y="4059935"/>
            <a:ext cx="4250624" cy="1975104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38150" y="4059935"/>
            <a:ext cx="50292" cy="197510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318" y="4187951"/>
            <a:ext cx="3866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A1B9A"/>
                </a:solidFill>
                <a:latin typeface="Calibri"/>
              </a:rPr>
              <a:t>What the [AI] section does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9318" y="4480559"/>
            <a:ext cx="3866576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Sets the LLM connection for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`KALUA ai`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and the Builder's AI panel.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Mirrors the `KALUA_AI_*` env vars and overrides them; explicit flags still win.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An OpenRouter base URL with no key set falls back to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`OPENAI_API_KEY`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1B9A"/>
                </a:solidFill>
                <a:latin typeface="Calibri"/>
              </a:rPr>
              <a:t>AUTHORING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KALUA Builder — design-time visual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Calibri"/>
              </a:rPr>
              <a:t>`KALUA builder &lt;app.lua|form.json&gt; [--host H] [--port 9001] [--no-browser] [--model M] [--base-url U] [--api-key-env V]`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82495"/>
            <a:ext cx="5446623" cy="1719072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82495"/>
            <a:ext cx="50292" cy="171907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10512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1B9A"/>
                </a:solidFill>
                <a:latin typeface="Calibri"/>
              </a:rPr>
              <a:t>What makes it trustworthy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03120"/>
            <a:ext cx="5062575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It never executes the app.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It renders the *real Go renderer* in-process, so the preview is pixel-accurate — the Builder embeds the same stylesheet `KALUA run` serves.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Source-preserving saves.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Only changed / new / deleted forms are spliced back into the original source; all other code is preserved byte-for-byte and unchanged forms round-trip untouched (idempotent).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1682495"/>
            <a:ext cx="5446623" cy="1719072"/>
          </a:xfrm>
          <a:prstGeom prst="roundRect">
            <a:avLst>
              <a:gd name="adj" fmla="val 3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2151" y="1682495"/>
            <a:ext cx="50292" cy="1719072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3319" y="1810512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Multi-form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319" y="2103120"/>
            <a:ext cx="5062575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A workspace may declare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many forms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plus non-form code — helpers, `main()`, DB setup — in one `.lua` or `.kalua-form.json` file.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Import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walks the AST and extracts *every* `k.form.new` in declaration order with its controls and `k.form.on` handlers, recording each statement's line span.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The form dropdown switches the active form;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+ Form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appends,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Delete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removes a form together with its handler statements.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66160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1B9A"/>
                </a:solidFill>
                <a:latin typeface="Calibri"/>
              </a:rPr>
              <a:t>11 CONTROL TYPES IN THE PALETTE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59436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label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25296" y="3840480"/>
            <a:ext cx="744321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textbox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97633" y="3840480"/>
            <a:ext cx="66934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button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94990" y="3840480"/>
            <a:ext cx="59436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combo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7366" y="3840480"/>
            <a:ext cx="519379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4761" y="3840480"/>
            <a:ext cx="59436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7137" y="3840480"/>
            <a:ext cx="66934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looper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84494" y="3840480"/>
            <a:ext cx="59436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chart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6870" y="3840480"/>
            <a:ext cx="59436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image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9246" y="3840480"/>
            <a:ext cx="819302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checkbox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6564" y="3840480"/>
            <a:ext cx="594360" cy="29260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64008" bIns="6400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F5D8C"/>
                </a:solidFill>
                <a:latin typeface="Calibri"/>
              </a:rPr>
              <a:t>radio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315968"/>
            <a:ext cx="5446623" cy="1572768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315968"/>
            <a:ext cx="50292" cy="15727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443983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Guarantees on handlers &amp;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4736592"/>
            <a:ext cx="50625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Event handlers are stored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verbatim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as source text and re-injected on save — the Builder is a structural tool, it does not rewrite your logic.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Renaming a control or form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never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rewrites `k.form.on` lines; deleting one removes its handler statements.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Grid cells are an ordered array (width 1-12, background, alignment, border) with add / rename / reorder / delete; unknown cell ids fall back to `main`.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2151" y="4315968"/>
            <a:ext cx="5446623" cy="1572768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42151" y="4315968"/>
            <a:ext cx="50292" cy="1572768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3319" y="4443983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95C"/>
                </a:solidFill>
                <a:latin typeface="Calibri"/>
              </a:rPr>
              <a:t>Local HTTP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3319" y="4736592"/>
            <a:ext cx="50625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`GET/PUT /api/form` — read / save the multi-form document (Lua splice or JSON write)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`POST /api/import` · `/api/export` — extract from Lua, or assemble the file back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`POST /api/preview` · `/api/validate` — render the active form / static-check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`GET /api/ai/status` · `POST /api/ai/generate|fix|stream` — the AI panel (SSE)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1B9A"/>
                </a:solidFill>
                <a:latin typeface="Calibri"/>
              </a:rPr>
              <a:t>AUTHORING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Builder workflow — six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35024"/>
            <a:ext cx="172714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1727149" cy="5486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481328"/>
            <a:ext cx="147111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1B9A"/>
                </a:solidFill>
                <a:latin typeface="Calibri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1B9A"/>
                </a:solidFill>
                <a:latin typeface="Calibri"/>
              </a:rPr>
              <a:t>Pick the form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Choose it from the form dropdown, or create one with </a:t>
            </a:r>
            <a:r>
              <a:rPr sz="850" b="1" i="0">
                <a:solidFill>
                  <a:srgbClr val="5A6673"/>
                </a:solidFill>
                <a:latin typeface="Calibri"/>
              </a:rPr>
              <a:t>+ Form</a:t>
            </a:r>
            <a:r>
              <a:rPr sz="850" b="0" i="0">
                <a:solidFill>
                  <a:srgbClr val="5A6673"/>
                </a:solidFill>
                <a:latin typeface="Calibri"/>
              </a:rPr>
              <a:t>. Only the selected form is edited at a time.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48357" y="2157984"/>
            <a:ext cx="128016" cy="182880"/>
          </a:xfrm>
          <a:prstGeom prst="righ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94661" y="1335024"/>
            <a:ext cx="172714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94661" y="1335024"/>
            <a:ext cx="1727149" cy="5486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2677" y="1481328"/>
            <a:ext cx="147111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1B9A"/>
                </a:solidFill>
                <a:latin typeface="Calibri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1B9A"/>
                </a:solidFill>
                <a:latin typeface="Calibri"/>
              </a:rPr>
              <a:t>Choose a layout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6673"/>
                </a:solidFill>
                <a:latin typeface="Calibri"/>
              </a:rPr>
              <a:t>Vertical</a:t>
            </a:r>
            <a:r>
              <a:rPr sz="850" b="0" i="0">
                <a:solidFill>
                  <a:srgbClr val="5A6673"/>
                </a:solidFill>
                <a:latin typeface="Calibri"/>
              </a:rPr>
              <a:t> (with align + gap) or </a:t>
            </a:r>
            <a:r>
              <a:rPr sz="850" b="1" i="0">
                <a:solidFill>
                  <a:srgbClr val="5A6673"/>
                </a:solidFill>
                <a:latin typeface="Calibri"/>
              </a:rPr>
              <a:t>Grid</a:t>
            </a:r>
            <a:r>
              <a:rPr sz="850" b="0" i="0">
                <a:solidFill>
                  <a:srgbClr val="5A6673"/>
                </a:solidFill>
                <a:latin typeface="Calibri"/>
              </a:rPr>
              <a:t> with ordered cells — header / sidebar / main / footer style dashboards.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40098" y="2157984"/>
            <a:ext cx="128016" cy="182880"/>
          </a:xfrm>
          <a:prstGeom prst="righ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6402" y="1335024"/>
            <a:ext cx="172714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6402" y="1335024"/>
            <a:ext cx="1727149" cy="5486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4418" y="1481328"/>
            <a:ext cx="147111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1B9A"/>
                </a:solidFill>
                <a:latin typeface="Calibri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1B9A"/>
                </a:solidFill>
                <a:latin typeface="Calibri"/>
              </a:rPr>
              <a:t>Drag controls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Drop controls from the palette onto the canvas; in grid mode click a dashed cell region to select it.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1839" y="2157984"/>
            <a:ext cx="128016" cy="182880"/>
          </a:xfrm>
          <a:prstGeom prst="righ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8143" y="1335024"/>
            <a:ext cx="172714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8143" y="1335024"/>
            <a:ext cx="1727149" cy="5486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6159" y="1481328"/>
            <a:ext cx="147111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1B9A"/>
                </a:solidFill>
                <a:latin typeface="Calibri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1B9A"/>
                </a:solidFill>
                <a:latin typeface="Calibri"/>
              </a:rPr>
              <a:t>Edit properties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Label, value, items, chart type and datasets, cell assignment, alignment — and more.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23580" y="2157984"/>
            <a:ext cx="128016" cy="182880"/>
          </a:xfrm>
          <a:prstGeom prst="righ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9884" y="1335024"/>
            <a:ext cx="172714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9884" y="1335024"/>
            <a:ext cx="1727149" cy="5486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7900" y="1481328"/>
            <a:ext cx="147111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1B9A"/>
                </a:solidFill>
                <a:latin typeface="Calibri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1B9A"/>
                </a:solidFill>
                <a:latin typeface="Calibri"/>
              </a:rPr>
              <a:t>Preview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The preview updates through a debounced server round-trip; the Go renderer is the source of truth.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815321" y="2157984"/>
            <a:ext cx="128016" cy="182880"/>
          </a:xfrm>
          <a:prstGeom prst="righ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61626" y="1335024"/>
            <a:ext cx="172714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1626" y="1335024"/>
            <a:ext cx="1727149" cy="5486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89642" y="1481328"/>
            <a:ext cx="147111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6A1B9A"/>
                </a:solidFill>
                <a:latin typeface="Calibri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1B9A"/>
                </a:solidFill>
                <a:latin typeface="Calibri"/>
              </a:rPr>
              <a:t>Save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For `.lua` only the changed / new / deleted forms are spliced in. For `.json` the document is written.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346704"/>
            <a:ext cx="5446623" cy="1609344"/>
          </a:xfrm>
          <a:prstGeom prst="roundRect">
            <a:avLst>
              <a:gd name="adj" fmla="val 3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346704"/>
            <a:ext cx="50292" cy="1609344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347472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D8C"/>
                </a:solidFill>
                <a:latin typeface="Calibri"/>
              </a:rPr>
              <a:t>Refinements that matter in practice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3767328"/>
            <a:ext cx="5062575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Undo / Redo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— one step covers a typing burst; structural changes each get their own step (`Ctrl/Cmd+Z`, `Ctrl/Cmd+Shift+Z`).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Delete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a control with the Delete key, the `×` in the control list, or the `×` in the control editor header.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The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Code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tab always shows the *assembled* file — original source with the edited forms spliced in.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2151" y="3346704"/>
            <a:ext cx="5446623" cy="1609344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2151" y="3346704"/>
            <a:ext cx="50292" cy="1609344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3319" y="3474720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95C"/>
                </a:solidFill>
                <a:latin typeface="Calibri"/>
              </a:rPr>
              <a:t>Database-aware design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3319" y="3767328"/>
            <a:ext cx="5062575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`GET /api/db` lists the named handles registered with `--db NAME=DSN`; `POST /api/db/query` runs a read-only preview (SELECT / WITH / PRAGMA / EXPLAIN / SHOW, capped at 200 rows).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Generate Tabulator columns from a live result, or use a static dataset;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looper row templates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render pixel-faithful sample rows server-side.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95C"/>
                </a:solidFill>
                <a:latin typeface="Calibri"/>
              </a:rPr>
              <a:t>AUTHORING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AI — natural language to Lua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5929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95C"/>
                </a:solidFill>
                <a:latin typeface="Calibri"/>
              </a:rPr>
              <a:t>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592927" cy="137160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37360"/>
            <a:ext cx="530031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ai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generate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A5D6A0"/>
                </a:solidFill>
                <a:latin typeface="Menlo"/>
              </a:rPr>
              <a:t>"a form with name and email"</a:t>
            </a:r>
            <a:r>
              <a:rPr sz="950" i="0">
                <a:solidFill>
                  <a:srgbClr val="E6EDF3"/>
                </a:solidFill>
                <a:latin typeface="Menlo"/>
              </a:rPr>
              <a:t> -</a:t>
            </a:r>
            <a:r>
              <a:rPr sz="950" i="0">
                <a:solidFill>
                  <a:srgbClr val="E6EDF3"/>
                </a:solidFill>
                <a:latin typeface="Menlo"/>
              </a:rPr>
              <a:t>o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ai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fix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  <a:r>
              <a:rPr sz="950" i="0">
                <a:solidFill>
                  <a:srgbClr val="E6EDF3"/>
                </a:solidFill>
                <a:latin typeface="Menlo"/>
              </a:rPr>
              <a:t>        # </a:t>
            </a:r>
            <a:r>
              <a:rPr sz="950" i="0">
                <a:solidFill>
                  <a:srgbClr val="E6EDF3"/>
                </a:solidFill>
                <a:latin typeface="Menlo"/>
              </a:rPr>
              <a:t>auto</a:t>
            </a:r>
            <a:r>
              <a:rPr sz="950" i="0">
                <a:solidFill>
                  <a:srgbClr val="E6EDF3"/>
                </a:solidFill>
                <a:latin typeface="Menlo"/>
              </a:rPr>
              <a:t>-</a:t>
            </a:r>
            <a:r>
              <a:rPr sz="950" i="0">
                <a:solidFill>
                  <a:srgbClr val="E6EDF3"/>
                </a:solidFill>
                <a:latin typeface="Menlo"/>
              </a:rPr>
              <a:t>fix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validation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errors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ai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validate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  <a:r>
              <a:rPr sz="950" i="0">
                <a:solidFill>
                  <a:srgbClr val="E6EDF3"/>
                </a:solidFill>
                <a:latin typeface="Menlo"/>
              </a:rPr>
              <a:t>   # </a:t>
            </a:r>
            <a:r>
              <a:rPr sz="950" i="0">
                <a:solidFill>
                  <a:srgbClr val="E6EDF3"/>
                </a:solidFill>
                <a:latin typeface="Menlo"/>
              </a:rPr>
              <a:t>static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check</a:t>
            </a:r>
            <a:r>
              <a:rPr sz="950" i="0">
                <a:solidFill>
                  <a:srgbClr val="E6EDF3"/>
                </a:solidFill>
                <a:latin typeface="Menlo"/>
              </a:rPr>
              <a:t> (</a:t>
            </a:r>
            <a:r>
              <a:rPr sz="950" i="0">
                <a:solidFill>
                  <a:srgbClr val="E6EDF3"/>
                </a:solidFill>
                <a:latin typeface="Menlo"/>
              </a:rPr>
              <a:t>syntax</a:t>
            </a:r>
            <a:r>
              <a:rPr sz="950" i="0">
                <a:solidFill>
                  <a:srgbClr val="E6EDF3"/>
                </a:solidFill>
                <a:latin typeface="Menlo"/>
              </a:rPr>
              <a:t> + </a:t>
            </a:r>
            <a:r>
              <a:rPr sz="950" i="1">
                <a:solidFill>
                  <a:srgbClr val="C5E0B4"/>
                </a:solidFill>
                <a:latin typeface="Menlo"/>
              </a:rPr>
              <a:t>k</a:t>
            </a:r>
            <a:r>
              <a:rPr sz="950" i="0">
                <a:solidFill>
                  <a:srgbClr val="E6EDF3"/>
                </a:solidFill>
                <a:latin typeface="Menlo"/>
              </a:rPr>
              <a:t>.*)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63824"/>
            <a:ext cx="55929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Flags: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`--model`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,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`--base-url`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,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`--api-key-env`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, `--full-doc` (include the full API reference in the prompt).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Config: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`KALUA_AI_BASE_URL`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(default `http://localhost:1234/v1`, LM Studio),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`KALUA_AI_MODEL`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(default `local-model`),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`KALUA_AI_API_KEY`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— or the `[AI]` section of `KALUA.INI`; precedence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flags &gt; INI &gt; env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An OpenRouter endpoint with no key falls back to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`OPENAI_API_KEY`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8455" y="1335024"/>
            <a:ext cx="5300319" cy="1572768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8455" y="1335024"/>
            <a:ext cx="50292" cy="1572768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9623" y="1463040"/>
            <a:ext cx="4916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95C"/>
                </a:solidFill>
                <a:latin typeface="Calibri"/>
              </a:rPr>
              <a:t>Generation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9623" y="1755648"/>
            <a:ext cx="4916271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The model receives a compact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run-mode knowledge pack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built from `api_doc.go`, plus a component library describing every buildable control.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Output is statically checked, and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validation errors are fed back for up to three automatic fix attempts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Only validated code reaches the 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8455" y="3072384"/>
            <a:ext cx="5300319" cy="1901952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8455" y="3072384"/>
            <a:ext cx="50292" cy="190195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9623" y="3200400"/>
            <a:ext cx="4916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1B9A"/>
                </a:solidFill>
                <a:latin typeface="Calibri"/>
              </a:rPr>
              <a:t>Builder chat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9623" y="3493008"/>
            <a:ext cx="4916271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Click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AI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in the Builder's top bar; the status dot turns green when the provider answers, and a red dot shows the exact backend error (`401`, `429`, timeout) so you can tell a bad key from a cold model.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Responses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stream live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into the Code tab over SSE (`/api/ai/stream`).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Fix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resends the script with its errors;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Apply to Builder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merges the result in *by form name* — it never deletes anything and the active form stays selected, so “add a Cancel button” updates the existing form.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Edit current form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feeds the open source back in for multi-turn tweaks.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12080"/>
            <a:ext cx="11185855" cy="82296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5321808"/>
            <a:ext cx="1089324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KALUA_AI_BASE_URL</a:t>
            </a:r>
            <a:r>
              <a:rPr sz="950" i="0">
                <a:solidFill>
                  <a:srgbClr val="E6EDF3"/>
                </a:solidFill>
                <a:latin typeface="Menlo"/>
              </a:rPr>
              <a:t>=</a:t>
            </a:r>
            <a:r>
              <a:rPr sz="950" i="0">
                <a:solidFill>
                  <a:srgbClr val="E6EDF3"/>
                </a:solidFill>
                <a:latin typeface="Menlo"/>
              </a:rPr>
              <a:t>https</a:t>
            </a:r>
            <a:r>
              <a:rPr sz="950" i="0">
                <a:solidFill>
                  <a:srgbClr val="E6EDF3"/>
                </a:solidFill>
                <a:latin typeface="Menlo"/>
              </a:rPr>
              <a:t>://</a:t>
            </a:r>
            <a:r>
              <a:rPr sz="950" i="0">
                <a:solidFill>
                  <a:srgbClr val="E6EDF3"/>
                </a:solidFill>
                <a:latin typeface="Menlo"/>
              </a:rPr>
              <a:t>openrouter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ai</a:t>
            </a:r>
            <a:r>
              <a:rPr sz="950" i="0">
                <a:solidFill>
                  <a:srgbClr val="E6EDF3"/>
                </a:solidFill>
                <a:latin typeface="Menlo"/>
              </a:rPr>
              <a:t>/</a:t>
            </a:r>
            <a:r>
              <a:rPr sz="950" i="0">
                <a:solidFill>
                  <a:srgbClr val="E6EDF3"/>
                </a:solidFill>
                <a:latin typeface="Menlo"/>
              </a:rPr>
              <a:t>api</a:t>
            </a:r>
            <a:r>
              <a:rPr sz="950" i="0">
                <a:solidFill>
                  <a:srgbClr val="E6EDF3"/>
                </a:solidFill>
                <a:latin typeface="Menlo"/>
              </a:rPr>
              <a:t>/</a:t>
            </a:r>
            <a:r>
              <a:rPr sz="950" i="0">
                <a:solidFill>
                  <a:srgbClr val="E6EDF3"/>
                </a:solidFill>
                <a:latin typeface="Menlo"/>
              </a:rPr>
              <a:t>v1</a:t>
            </a:r>
            <a:r>
              <a:rPr sz="950" i="0">
                <a:solidFill>
                  <a:srgbClr val="E6EDF3"/>
                </a:solidFill>
                <a:latin typeface="Menlo"/>
              </a:rPr>
              <a:t>  \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KALUA_AI_MODEL</a:t>
            </a:r>
            <a:r>
              <a:rPr sz="950" i="0">
                <a:solidFill>
                  <a:srgbClr val="E6EDF3"/>
                </a:solidFill>
                <a:latin typeface="Menlo"/>
              </a:rPr>
              <a:t>=</a:t>
            </a:r>
            <a:r>
              <a:rPr sz="950" i="0">
                <a:solidFill>
                  <a:srgbClr val="E6EDF3"/>
                </a:solidFill>
                <a:latin typeface="Menlo"/>
              </a:rPr>
              <a:t>nvidia</a:t>
            </a:r>
            <a:r>
              <a:rPr sz="950" i="0">
                <a:solidFill>
                  <a:srgbClr val="E6EDF3"/>
                </a:solidFill>
                <a:latin typeface="Menlo"/>
              </a:rPr>
              <a:t>/</a:t>
            </a:r>
            <a:r>
              <a:rPr sz="950" i="0">
                <a:solidFill>
                  <a:srgbClr val="E6EDF3"/>
                </a:solidFill>
                <a:latin typeface="Menlo"/>
              </a:rPr>
              <a:t>nemotron</a:t>
            </a:r>
            <a:r>
              <a:rPr sz="950" i="0">
                <a:solidFill>
                  <a:srgbClr val="E6EDF3"/>
                </a:solidFill>
                <a:latin typeface="Menlo"/>
              </a:rPr>
              <a:t>-3.5-</a:t>
            </a:r>
            <a:r>
              <a:rPr sz="950" i="0">
                <a:solidFill>
                  <a:srgbClr val="E6EDF3"/>
                </a:solidFill>
                <a:latin typeface="Menlo"/>
              </a:rPr>
              <a:t>lightning</a:t>
            </a:r>
            <a:r>
              <a:rPr sz="950" i="0">
                <a:solidFill>
                  <a:srgbClr val="E6EDF3"/>
                </a:solidFill>
                <a:latin typeface="Menlo"/>
              </a:rPr>
              <a:t>:</a:t>
            </a:r>
            <a:r>
              <a:rPr sz="950" i="0">
                <a:solidFill>
                  <a:srgbClr val="E6EDF3"/>
                </a:solidFill>
                <a:latin typeface="Menlo"/>
              </a:rPr>
              <a:t>free</a:t>
            </a:r>
            <a:r>
              <a:rPr sz="950" i="0">
                <a:solidFill>
                  <a:srgbClr val="E6EDF3"/>
                </a:solidFill>
                <a:latin typeface="Menlo"/>
              </a:rPr>
              <a:t>  \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KALUA_AI_API_KEY</a:t>
            </a:r>
            <a:r>
              <a:rPr sz="950" i="0">
                <a:solidFill>
                  <a:srgbClr val="E6EDF3"/>
                </a:solidFill>
                <a:latin typeface="Menlo"/>
              </a:rPr>
              <a:t>=</a:t>
            </a:r>
            <a:r>
              <a:rPr sz="950" i="0">
                <a:solidFill>
                  <a:srgbClr val="E6EDF3"/>
                </a:solidFill>
                <a:latin typeface="Menlo"/>
              </a:rPr>
              <a:t>sk</a:t>
            </a:r>
            <a:r>
              <a:rPr sz="950" i="0">
                <a:solidFill>
                  <a:srgbClr val="E6EDF3"/>
                </a:solidFill>
                <a:latin typeface="Menlo"/>
              </a:rPr>
              <a:t>-</a:t>
            </a:r>
            <a:r>
              <a:rPr sz="950" i="0">
                <a:solidFill>
                  <a:srgbClr val="7EC6F0"/>
                </a:solidFill>
                <a:latin typeface="Menlo"/>
              </a:rPr>
              <a:t>or</a:t>
            </a:r>
            <a:r>
              <a:rPr sz="950" i="0">
                <a:solidFill>
                  <a:srgbClr val="E6EDF3"/>
                </a:solidFill>
                <a:latin typeface="Menlo"/>
              </a:rPr>
              <a:t>-</a:t>
            </a:r>
            <a:r>
              <a:rPr sz="950" i="0">
                <a:solidFill>
                  <a:srgbClr val="E6EDF3"/>
                </a:solidFill>
                <a:latin typeface="Menlo"/>
              </a:rPr>
              <a:t>v1</a:t>
            </a:r>
            <a:r>
              <a:rPr sz="950" i="0">
                <a:solidFill>
                  <a:srgbClr val="E6EDF3"/>
                </a:solidFill>
                <a:latin typeface="Menlo"/>
              </a:rPr>
              <a:t>-...  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builder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4974336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673"/>
                </a:solidFill>
                <a:latin typeface="Calibri"/>
              </a:rPr>
              <a:t>LAUNCH THE BUILDER WITH AN AI BACKEND — export the variables in the same shell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8990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Calibri"/>
              </a:rPr>
              <a:t>The Builder reads the LLM settings at startup, so a running process keeps its original environment — pass `--base-url` / `--model` explicitly if you launched it earlier.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1B9A"/>
                </a:solidFill>
                <a:latin typeface="Calibri"/>
              </a:rPr>
              <a:t>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Connecting AI agents — the MCP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`KALUA mcp` speaks the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Model Context Protocol over stdio (protocol 2025-06-18)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, exposing KALUA's static checks, test runners, database access and LSP features as tools to any MCP-capable agent — OpenCode, Claude Code, Cursor, GitHub Copilot and friends.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7382664" cy="3378708"/>
        </p:xfrm>
        <a:graphic>
          <a:graphicData uri="http://schemas.openxmlformats.org/drawingml/2006/table">
            <a:tbl>
              <a:tblPr firstRow="0" bandRow="0" firstCol="0" lastRow="0" lastCol="0">
                <a:tableStyleId>{2D5ABB26-0587-4C30-8999-92F81FD0307C}</a:tableStyleId>
              </a:tblPr>
              <a:tblGrid>
                <a:gridCol w="1234440"/>
                <a:gridCol w="6148224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64008" marR="64008" marT="18288" marB="18288">
                    <a:solidFill>
                      <a:srgbClr val="6A1B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What the agent gets</a:t>
                      </a:r>
                    </a:p>
                  </a:txBody>
                  <a:tcPr anchor="ctr" marL="64008" marR="64008" marT="18288" marB="18288">
                    <a:solidFill>
                      <a:srgbClr val="6A1B9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`check`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Static validation of a script — syntax, unknown `k.*`, `main` presence. Returns issues with line/column.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`format`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gofmt-style formatting. Returns a `changed` flag, the formatted source and an optional diff.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`run_test`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Headless test of a run-mode app: static check + execute `main()`. Returns exit code and output. Accepts `--db` and `--arg`.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`serve_test`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Headless smoke test of a serve-mode app — `init`, `handle_http`, `handle_ws`, `handle_tcp`, `shutdown` — with HTTP probes, status/body assertions and WS/TCP payloads.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`describe`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Structural overview from the AST: entry points, forms and `k.*` API usage.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`query_db`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Read-only preview against a named DB handle — SELECT / WITH / PRAGMA / EXPLAIN / SHOW only, capped at 200 rows.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`lsp_complete`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LSP completion items at a cursor position (`k.*`, `K.*`, expression functions, globals).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`lsp_hover`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LSP hover markdown at a cursor position.</a:t>
                      </a:r>
                    </a:p>
                  </a:txBody>
                  <a:tcPr anchor="ctr" marL="64008" marR="64008" marT="18288" marB="18288"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A1B9A"/>
                          </a:solidFill>
                          <a:latin typeface="Calibri"/>
                        </a:rPr>
                        <a:t>`run_scenario`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UI scenario test (JSON steps) against a run-mode app. Returns pass/fail with the failing step index.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09301" y="1828800"/>
            <a:ext cx="3579473" cy="1517904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09301" y="1828800"/>
            <a:ext cx="50292" cy="151790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0469" y="1956816"/>
            <a:ext cx="319542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1B9A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469" y="2249424"/>
            <a:ext cx="3195425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An agent can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validate, format, run, smoke-test and query the database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before ever showing you code.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The same server backs the editor tooling, so agent behaviour and IDE behaviour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9301" y="3511296"/>
            <a:ext cx="3579473" cy="2011680"/>
          </a:xfrm>
          <a:prstGeom prst="roundRect">
            <a:avLst>
              <a:gd name="adj" fmla="val 3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9301" y="3511296"/>
            <a:ext cx="50292" cy="201168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0469" y="3639312"/>
            <a:ext cx="319542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Editor tooling alongside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469" y="3931920"/>
            <a:ext cx="319542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`KALUA lsp`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— the Language Server over stdio, the source of truth for completion, hover and diagnostics.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VSCode extension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(`extensions/vscode-kalua`) registers the `kalua` language for `*.lua` and adds *Check file*, *Run app* and *New app* commands.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Both read the same generated API reference, so nothing drifts.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7D32"/>
                </a:solidFill>
                <a:latin typeface="Calibri"/>
              </a:rPr>
              <a:t>RUNTIME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The `k.*` API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Calibri"/>
              </a:rPr>
              <a:t>Everything beyond bare Lua lives on the `k` table. Helpers (`K.*`) and the ~100 flat expression functions are omitted here — see the generated reference in the user guide.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7"/>
            <a:ext cx="45720" cy="1133856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F5D8C"/>
                </a:solidFill>
                <a:latin typeface="Calibri"/>
              </a:rPr>
              <a:t>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`k.print` `k.sleep` `k.quit` `k.msgbox` `k.popup`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`k.http_request` `k.timer_start` `k.param_set`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Lifecycle, dialogs, time, persistence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66420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4247" y="1664207"/>
            <a:ext cx="45720" cy="1133856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8839" y="177393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A1B9A"/>
                </a:solidFill>
                <a:latin typeface="Calibri"/>
              </a:rPr>
              <a:t>Forms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`k.form.new` `.show` `.close` `.on` `.refresh`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`.return_to`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Declare, show, close, register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66420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5575" y="1664207"/>
            <a:ext cx="45720" cy="1133856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167" y="177393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695C"/>
                </a:solidFill>
                <a:latin typeface="Calibri"/>
              </a:rPr>
              <a:t>Controls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`k.ctrl.*`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Add and manipulate the 11 control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66420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6903" y="1664207"/>
            <a:ext cx="45720" cy="1133856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1495" y="177393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695C"/>
                </a:solidFill>
                <a:latin typeface="Calibri"/>
              </a:rPr>
              <a:t>Tables / Loopers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`k.table.*`  `k.looper.*`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Row data ops, DB-linked grids and repeaters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44368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944368"/>
            <a:ext cx="45720" cy="1133856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05409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695C"/>
                </a:solidFill>
                <a:latin typeface="Calibri"/>
              </a:rPr>
              <a:t>Charts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`k.chart.*`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Chart.js data updates, PNG export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4247" y="2944368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54247" y="2944368"/>
            <a:ext cx="45720" cy="113385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8839" y="305409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Database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`k.connect_db` `k.sql` `k.db_*` `k.rows` `k.tx_*`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Any SQL database via DSN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2944368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2944368"/>
            <a:ext cx="45720" cy="1133856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305409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A6D1F"/>
                </a:solidFill>
                <a:latin typeface="Calibri"/>
              </a:rPr>
              <a:t>Files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`k.file_*`  `k.zip_*`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Read/write files, ZIP archives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6903" y="2944368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6903" y="2944368"/>
            <a:ext cx="45720" cy="1133856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1495" y="3054096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A6D1F"/>
                </a:solidFill>
                <a:latin typeface="Calibri"/>
              </a:rPr>
              <a:t>JSON / XML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`k.json_*`  `k.xml_*`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Parse, navigate, serialize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2452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224527"/>
            <a:ext cx="45720" cy="1133856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334255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A6D1F"/>
                </a:solidFill>
                <a:latin typeface="Calibri"/>
              </a:rPr>
              <a:t>Formats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`k.csv_*`  `k.ini_*`  `k.yaml_*`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Data interchange formats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4247" y="422452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54247" y="4224527"/>
            <a:ext cx="45720" cy="1133856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8839" y="4334255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A6D1F"/>
                </a:solidFill>
                <a:latin typeface="Calibri"/>
              </a:rPr>
              <a:t>Rows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`k.json_to_rows` `k.csv_to_rows`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`k.rows_to_json` …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Result-set ↔ format conversion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5575" y="422452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FCE4EC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05575" y="4224527"/>
            <a:ext cx="45720" cy="11338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0167" y="4334255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62828"/>
                </a:solidFill>
                <a:latin typeface="Calibri"/>
              </a:rPr>
              <a:t>Comm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`k.socket_*` `k.ftp_*` `k.smtp_*`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Menlo"/>
              </a:rPr>
              <a:t>`k.pop3_*` `k.webservice_run`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Calibri"/>
              </a:rPr>
              <a:t>Networking &amp; integrations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6903" y="4224527"/>
            <a:ext cx="2631871" cy="1133856"/>
          </a:xfrm>
          <a:prstGeom prst="roundRect">
            <a:avLst>
              <a:gd name="adj" fmla="val 5000"/>
            </a:avLst>
          </a:prstGeom>
          <a:solidFill>
            <a:srgbClr val="FCE4EC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56903" y="4224527"/>
            <a:ext cx="45720" cy="11338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21495" y="4334255"/>
            <a:ext cx="232097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t>Server (serve)</a:t>
            </a:r>
          </a:p>
          <a:p>
            <a:r>
              <a:t>`k.shared.*`  `k.ws.*`  `k.tcp.*`</a:t>
            </a:r>
          </a:p>
          <a:p>
            <a:r>
              <a:t>Cross-worker state, WS/TCP push</a:t>
            </a:r>
          </a:p>
          <a:p>
            <a:r>
              <a:t>WASM (wasm)</a:t>
            </a:r>
          </a:p>
          <a:p>
            <a:r>
              <a:t>browser-only:  k.file_* (IndexedDB)  k.param_* (localStorage)  k.http_request (fetch)  k.screen_size  k.net_ok  k.ping  k.locale</a:t>
            </a:r>
          </a:p>
          <a:p>
            <a:r>
              <a:t>SQLite via wa-sqlite (k.connect_sqlite / k.db_*); relay bridges MySQL/PG/MSSQL/FTP/SMTP/POP3/TCP (k.relay.*)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504688"/>
            <a:ext cx="11185855" cy="841248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504688"/>
            <a:ext cx="50292" cy="8412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" y="5632703"/>
            <a:ext cx="10801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Conventions that hold everywhere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5925312"/>
            <a:ext cx="1080180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Options are tables (`k.ctrl.textbox("main", "name", { label = "Name" })`)   ·   results are `{ columns, rows }`, iterated with `k.rows(res)`   ·   errors are `pcall`-able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DSN schemes: `sqlite://` `mysql://` `postgres://` `sqlserver://`   ·   `--db NAME=DSN` pre-registers a handle   ·   `--arg K=V` seeds the global `ARGS`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1B9A"/>
                </a:solidFill>
                <a:latin typeface="Calibri"/>
              </a:rPr>
              <a:t>RUNTIME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Forms and controls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2573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673"/>
                </a:solidFill>
                <a:latin typeface="Calibri"/>
              </a:rPr>
              <a:t>A COMPLETE RUN-MODE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5257351" cy="2798064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55648"/>
            <a:ext cx="4964743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7EC6F0"/>
                </a:solidFill>
                <a:latin typeface="Menlo"/>
              </a:rPr>
              <a:t>function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main</a:t>
            </a:r>
            <a:r>
              <a:rPr sz="900" i="0">
                <a:solidFill>
                  <a:srgbClr val="E6EDF3"/>
                </a:solidFill>
                <a:latin typeface="Menlo"/>
              </a:rPr>
              <a:t>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form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new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"main"</a:t>
            </a:r>
            <a:r>
              <a:rPr sz="900" i="0">
                <a:solidFill>
                  <a:srgbClr val="E6EDF3"/>
                </a:solidFill>
                <a:latin typeface="Menlo"/>
              </a:rPr>
              <a:t>,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  </a:t>
            </a:r>
            <a:r>
              <a:rPr sz="900" i="0">
                <a:solidFill>
                  <a:srgbClr val="E6EDF3"/>
                </a:solidFill>
                <a:latin typeface="Menlo"/>
              </a:rPr>
              <a:t>title</a:t>
            </a:r>
            <a:r>
              <a:rPr sz="900" i="0">
                <a:solidFill>
                  <a:srgbClr val="E6EDF3"/>
                </a:solidFill>
                <a:latin typeface="Menlo"/>
              </a:rPr>
              <a:t>  = </a:t>
            </a:r>
            <a:r>
              <a:rPr sz="900" i="0">
                <a:solidFill>
                  <a:srgbClr val="A5D6A0"/>
                </a:solidFill>
                <a:latin typeface="Menlo"/>
              </a:rPr>
              <a:t>"Hello"</a:t>
            </a:r>
            <a:r>
              <a:rPr sz="900" i="0">
                <a:solidFill>
                  <a:srgbClr val="E6EDF3"/>
                </a:solidFill>
                <a:latin typeface="Menlo"/>
              </a:rPr>
              <a:t>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  </a:t>
            </a:r>
            <a:r>
              <a:rPr sz="900" i="0">
                <a:solidFill>
                  <a:srgbClr val="E6EDF3"/>
                </a:solidFill>
                <a:latin typeface="Menlo"/>
              </a:rPr>
              <a:t>layout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A5D6A0"/>
                </a:solidFill>
                <a:latin typeface="Menlo"/>
              </a:rPr>
              <a:t>"vertical"</a:t>
            </a:r>
            <a:r>
              <a:rPr sz="900" i="0">
                <a:solidFill>
                  <a:srgbClr val="E6EDF3"/>
                </a:solidFill>
                <a:latin typeface="Menlo"/>
              </a:rPr>
              <a:t>,     -- </a:t>
            </a:r>
            <a:r>
              <a:rPr sz="900" i="0">
                <a:solidFill>
                  <a:srgbClr val="7EC6F0"/>
                </a:solidFill>
                <a:latin typeface="Menlo"/>
              </a:rPr>
              <a:t>or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A5D6A0"/>
                </a:solidFill>
                <a:latin typeface="Menlo"/>
              </a:rPr>
              <a:t>"grid"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with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cells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  </a:t>
            </a:r>
            <a:r>
              <a:rPr sz="900" i="0">
                <a:solidFill>
                  <a:srgbClr val="E6EDF3"/>
                </a:solidFill>
                <a:latin typeface="Menlo"/>
              </a:rPr>
              <a:t>align</a:t>
            </a:r>
            <a:r>
              <a:rPr sz="900" i="0">
                <a:solidFill>
                  <a:srgbClr val="E6EDF3"/>
                </a:solidFill>
                <a:latin typeface="Menlo"/>
              </a:rPr>
              <a:t>  = </a:t>
            </a:r>
            <a:r>
              <a:rPr sz="900" i="0">
                <a:solidFill>
                  <a:srgbClr val="A5D6A0"/>
                </a:solidFill>
                <a:latin typeface="Menlo"/>
              </a:rPr>
              <a:t>"center"</a:t>
            </a:r>
            <a:r>
              <a:rPr sz="900" i="0">
                <a:solidFill>
                  <a:srgbClr val="E6EDF3"/>
                </a:solidFill>
                <a:latin typeface="Menlo"/>
              </a:rPr>
              <a:t>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ctrl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label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"main"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A5D6A0"/>
                </a:solidFill>
                <a:latin typeface="Menlo"/>
              </a:rPr>
              <a:t>"greeting"</a:t>
            </a:r>
            <a:r>
              <a:rPr sz="900" i="0">
                <a:solidFill>
                  <a:srgbClr val="E6EDF3"/>
                </a:solidFill>
                <a:latin typeface="Menlo"/>
              </a:rPr>
              <a:t>, { </a:t>
            </a:r>
            <a:r>
              <a:rPr sz="900" i="0">
                <a:solidFill>
                  <a:srgbClr val="E6EDF3"/>
                </a:solidFill>
                <a:latin typeface="Menlo"/>
              </a:rPr>
              <a:t>text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A5D6A0"/>
                </a:solidFill>
                <a:latin typeface="Menlo"/>
              </a:rPr>
              <a:t>"KALUA Forms"</a:t>
            </a:r>
            <a:r>
              <a:rPr sz="900" i="0">
                <a:solidFill>
                  <a:srgbClr val="E6EDF3"/>
                </a:solidFill>
                <a:latin typeface="Menlo"/>
              </a:rPr>
              <a:t>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ctrl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textbox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"main"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A5D6A0"/>
                </a:solidFill>
                <a:latin typeface="Menlo"/>
              </a:rPr>
              <a:t>"name"</a:t>
            </a:r>
            <a:r>
              <a:rPr sz="900" i="0">
                <a:solidFill>
                  <a:srgbClr val="E6EDF3"/>
                </a:solidFill>
                <a:latin typeface="Menlo"/>
              </a:rPr>
              <a:t>, { </a:t>
            </a:r>
            <a:r>
              <a:rPr sz="900" i="0">
                <a:solidFill>
                  <a:srgbClr val="E6EDF3"/>
                </a:solidFill>
                <a:latin typeface="Menlo"/>
              </a:rPr>
              <a:t>label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A5D6A0"/>
                </a:solidFill>
                <a:latin typeface="Menlo"/>
              </a:rPr>
              <a:t>"Your name"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E6EDF3"/>
                </a:solidFill>
                <a:latin typeface="Menlo"/>
              </a:rPr>
              <a:t>value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A5D6A0"/>
                </a:solidFill>
                <a:latin typeface="Menlo"/>
              </a:rPr>
              <a:t>"World"</a:t>
            </a:r>
            <a:r>
              <a:rPr sz="900" i="0">
                <a:solidFill>
                  <a:srgbClr val="E6EDF3"/>
                </a:solidFill>
                <a:latin typeface="Menlo"/>
              </a:rPr>
              <a:t>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ctrl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button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"main"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A5D6A0"/>
                </a:solidFill>
                <a:latin typeface="Menlo"/>
              </a:rPr>
              <a:t>"go"</a:t>
            </a:r>
            <a:r>
              <a:rPr sz="900" i="0">
                <a:solidFill>
                  <a:srgbClr val="E6EDF3"/>
                </a:solidFill>
                <a:latin typeface="Menlo"/>
              </a:rPr>
              <a:t>, { </a:t>
            </a:r>
            <a:r>
              <a:rPr sz="900" i="0">
                <a:solidFill>
                  <a:srgbClr val="E6EDF3"/>
                </a:solidFill>
                <a:latin typeface="Menlo"/>
              </a:rPr>
              <a:t>label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A5D6A0"/>
                </a:solidFill>
                <a:latin typeface="Menlo"/>
              </a:rPr>
              <a:t>"Greet"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E6EDF3"/>
                </a:solidFill>
                <a:latin typeface="Menlo"/>
              </a:rPr>
              <a:t>onclick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7EC6F0"/>
                </a:solidFill>
                <a:latin typeface="Menlo"/>
              </a:rPr>
              <a:t>function</a:t>
            </a:r>
            <a:r>
              <a:rPr sz="900" i="0">
                <a:solidFill>
                  <a:srgbClr val="E6EDF3"/>
                </a:solidFill>
                <a:latin typeface="Menlo"/>
              </a:rPr>
              <a:t>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  </a:t>
            </a:r>
            <a:r>
              <a:rPr sz="900" i="0">
                <a:solidFill>
                  <a:srgbClr val="7EC6F0"/>
                </a:solidFill>
                <a:latin typeface="Menlo"/>
              </a:rPr>
              <a:t>local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who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ctrl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get_value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"main"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A5D6A0"/>
                </a:solidFill>
                <a:latin typeface="Menlo"/>
              </a:rPr>
              <a:t>"name"</a:t>
            </a:r>
            <a:r>
              <a:rPr sz="900" i="0">
                <a:solidFill>
                  <a:srgbClr val="E6EDF3"/>
                </a:solidFill>
                <a:latin typeface="Menl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 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msgbox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"Hello "</a:t>
            </a:r>
            <a:r>
              <a:rPr sz="900" i="0">
                <a:solidFill>
                  <a:srgbClr val="E6EDF3"/>
                </a:solidFill>
                <a:latin typeface="Menlo"/>
              </a:rPr>
              <a:t> .. </a:t>
            </a:r>
            <a:r>
              <a:rPr sz="900" i="0">
                <a:solidFill>
                  <a:srgbClr val="E6EDF3"/>
                </a:solidFill>
                <a:latin typeface="Menlo"/>
              </a:rPr>
              <a:t>who</a:t>
            </a:r>
            <a:r>
              <a:rPr sz="900" i="0">
                <a:solidFill>
                  <a:srgbClr val="E6EDF3"/>
                </a:solidFill>
                <a:latin typeface="Menlo"/>
              </a:rPr>
              <a:t> .. </a:t>
            </a:r>
            <a:r>
              <a:rPr sz="900" i="0">
                <a:solidFill>
                  <a:srgbClr val="A5D6A0"/>
                </a:solidFill>
                <a:latin typeface="Menlo"/>
              </a:rPr>
              <a:t>"!"</a:t>
            </a:r>
            <a:r>
              <a:rPr sz="900" i="0">
                <a:solidFill>
                  <a:srgbClr val="E6EDF3"/>
                </a:solidFill>
                <a:latin typeface="Menl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0">
                <a:solidFill>
                  <a:srgbClr val="7EC6F0"/>
                </a:solidFill>
                <a:latin typeface="Menlo"/>
              </a:rPr>
              <a:t>end</a:t>
            </a:r>
            <a:r>
              <a:rPr sz="900" i="0">
                <a:solidFill>
                  <a:srgbClr val="E6EDF3"/>
                </a:solidFill>
                <a:latin typeface="Menlo"/>
              </a:rPr>
              <a:t>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form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show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"main"</a:t>
            </a:r>
            <a:r>
              <a:rPr sz="900" i="0">
                <a:solidFill>
                  <a:srgbClr val="E6EDF3"/>
                </a:solidFill>
                <a:latin typeface="Menl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7EC6F0"/>
                </a:solidFill>
                <a:latin typeface="Menlo"/>
              </a:rPr>
              <a:t>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2879" y="1335024"/>
            <a:ext cx="563589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Control values &amp; properties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— `k.ctrl.set_value` / `get_value` / `set_property` / `get_property` cover every type uniformly.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Focus &amp; selection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— `set_focus`, `select_text`, `get_selection`, `set_selection` round-trip to the browser.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Events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— `k.form.on(form, ctrl, event, fn)` for controls; the 3-argument form for `open_form`, `after_open_form`, `close_form`, `key_pressed`; and `k.form.on(form, "on_idle", ms, fn)` for a periodic idle callback.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Layout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— form-level `align` and `gap`, or `layout = "grid"` with ordered cells of width 1-12; controls pick a cell via their `cell` option. Below 600 px everything collapses to a single column.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Rich textboxes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— `multiline` renders a `&lt;textarea&gt;` (rows/cols), `datetime` attaches a flatpickr picker with `mode` / `format` / `min` / `max` / `step`.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2933"/>
                </a:solidFill>
                <a:latin typeface="Calibri"/>
              </a:rPr>
              <a:t>Async round-trips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 — `k.msgbox`, `k.popup`, `k.http_request`, `k.pick_file`, `k.chart.get_image` and `k.table.get_data` suspend the coroutine; the session keeps servicing events meanwhile.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46623" cy="1572768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572000"/>
            <a:ext cx="50292" cy="1572768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00016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95C"/>
                </a:solidFill>
                <a:latin typeface="Calibri"/>
              </a:rPr>
              <a:t>Tables and loopers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992624"/>
            <a:ext cx="50625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`k.table.*` — add/delete/find rows, read and set cell values, get selected rows or the column, refresh a DB-linked grid.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`k.looper.*` — a repeating row layout, optionally DB-linked (`{db, query, links, page_size, count_query, where, order_by}`). Row template cells render as real, read-only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4572000"/>
            <a:ext cx="5446623" cy="1572768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2151" y="4572000"/>
            <a:ext cx="50292" cy="157276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4700016"/>
            <a:ext cx="5062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A1B9A"/>
                </a:solidFill>
                <a:latin typeface="Calibri"/>
              </a:rPr>
              <a:t>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4992624"/>
            <a:ext cx="50625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`k.ctrl.chart(form, name, opts)` — `line`, `bar`, `hbar`, `pie`, `doughnut`, `scatter`, `radar`, `area`.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`k.chart.set_data` / `add_dataset` / `update_dataset` / `remove_dataset` / `set_labels` / `set_options` / `resize`, plus `get_image` for a base64 PNG.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Events `chart_click`, `chart_hover`, `chart_legend_click` arrive through `k.form.on`.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7D32"/>
                </a:solidFill>
                <a:latin typeface="Calibri"/>
              </a:rPr>
              <a:t>RUNTIME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Database, files and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2573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673"/>
                </a:solidFill>
                <a:latin typeface="Calibri"/>
              </a:rPr>
              <a:t>SQL IN SIX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5257351" cy="1938528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55648"/>
            <a:ext cx="496474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7EC6F0"/>
                </a:solidFill>
                <a:latin typeface="Menlo"/>
              </a:rPr>
              <a:t>local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h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connect_db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A5D6A0"/>
                </a:solidFill>
                <a:latin typeface="Menlo"/>
              </a:rPr>
              <a:t>"sqlite:///data/app.db"</a:t>
            </a:r>
            <a:r>
              <a:rPr sz="900" i="0">
                <a:solidFill>
                  <a:srgbClr val="E6EDF3"/>
                </a:solidFill>
                <a:latin typeface="Menl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7EC6F0"/>
                </a:solidFill>
                <a:latin typeface="Menlo"/>
              </a:rPr>
              <a:t>local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res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sql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E6EDF3"/>
                </a:solidFill>
                <a:latin typeface="Menlo"/>
              </a:rPr>
              <a:t>h</a:t>
            </a:r>
            <a:r>
              <a:rPr sz="900" i="0">
                <a:solidFill>
                  <a:srgbClr val="E6EDF3"/>
                </a:solidFill>
                <a:latin typeface="Menlo"/>
              </a:rPr>
              <a:t>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0">
                <a:solidFill>
                  <a:srgbClr val="A5D6A0"/>
                </a:solidFill>
                <a:latin typeface="Menlo"/>
              </a:rPr>
              <a:t>"SELECT * FROM items WHERE stock &lt; ?"</a:t>
            </a:r>
            <a:r>
              <a:rPr sz="900" i="0">
                <a:solidFill>
                  <a:srgbClr val="E6EDF3"/>
                </a:solidFill>
                <a:latin typeface="Menlo"/>
              </a:rPr>
              <a:t>, 5)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7EC6F0"/>
                </a:solidFill>
                <a:latin typeface="Menlo"/>
              </a:rPr>
              <a:t>for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E6EDF3"/>
                </a:solidFill>
                <a:latin typeface="Menlo"/>
              </a:rPr>
              <a:t>row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0">
                <a:solidFill>
                  <a:srgbClr val="7EC6F0"/>
                </a:solidFill>
                <a:latin typeface="Menlo"/>
              </a:rPr>
              <a:t>in</a:t>
            </a:r>
            <a:r>
              <a:rPr sz="900" i="0">
                <a:solidFill>
                  <a:srgbClr val="E6EDF3"/>
                </a:solidFill>
                <a:latin typeface="Menlo"/>
              </a:rPr>
              <a:t>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rows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E6EDF3"/>
                </a:solidFill>
                <a:latin typeface="Menlo"/>
              </a:rPr>
              <a:t>res</a:t>
            </a:r>
            <a:r>
              <a:rPr sz="900" i="0">
                <a:solidFill>
                  <a:srgbClr val="E6EDF3"/>
                </a:solidFill>
                <a:latin typeface="Menlo"/>
              </a:rPr>
              <a:t>) </a:t>
            </a:r>
            <a:r>
              <a:rPr sz="900" i="0">
                <a:solidFill>
                  <a:srgbClr val="7EC6F0"/>
                </a:solidFill>
                <a:latin typeface="Menlo"/>
              </a:rPr>
              <a:t>do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Menlo"/>
              </a:rPr>
              <a:t>  </a:t>
            </a: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print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E6EDF3"/>
                </a:solidFill>
                <a:latin typeface="Menlo"/>
              </a:rPr>
              <a:t>row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name</a:t>
            </a:r>
            <a:r>
              <a:rPr sz="900" i="0">
                <a:solidFill>
                  <a:srgbClr val="E6EDF3"/>
                </a:solidFill>
                <a:latin typeface="Menl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0">
                <a:solidFill>
                  <a:srgbClr val="7EC6F0"/>
                </a:solidFill>
                <a:latin typeface="Menlo"/>
              </a:rPr>
              <a:t>end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tx_begin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E6EDF3"/>
                </a:solidFill>
                <a:latin typeface="Menlo"/>
              </a:rPr>
              <a:t>h</a:t>
            </a:r>
            <a:r>
              <a:rPr sz="900" i="0">
                <a:solidFill>
                  <a:srgbClr val="E6EDF3"/>
                </a:solidFill>
                <a:latin typeface="Menl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db_insert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E6EDF3"/>
                </a:solidFill>
                <a:latin typeface="Menlo"/>
              </a:rPr>
              <a:t>h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A5D6A0"/>
                </a:solidFill>
                <a:latin typeface="Menlo"/>
              </a:rPr>
              <a:t>"items"</a:t>
            </a:r>
            <a:r>
              <a:rPr sz="900" i="0">
                <a:solidFill>
                  <a:srgbClr val="E6EDF3"/>
                </a:solidFill>
                <a:latin typeface="Menlo"/>
              </a:rPr>
              <a:t>, { </a:t>
            </a:r>
            <a:r>
              <a:rPr sz="900" i="0">
                <a:solidFill>
                  <a:srgbClr val="E6EDF3"/>
                </a:solidFill>
                <a:latin typeface="Menlo"/>
              </a:rPr>
              <a:t>name</a:t>
            </a:r>
            <a:r>
              <a:rPr sz="900" i="0">
                <a:solidFill>
                  <a:srgbClr val="E6EDF3"/>
                </a:solidFill>
                <a:latin typeface="Menlo"/>
              </a:rPr>
              <a:t> = </a:t>
            </a:r>
            <a:r>
              <a:rPr sz="900" i="0">
                <a:solidFill>
                  <a:srgbClr val="A5D6A0"/>
                </a:solidFill>
                <a:latin typeface="Menlo"/>
              </a:rPr>
              <a:t>"widget"</a:t>
            </a:r>
            <a:r>
              <a:rPr sz="900" i="0">
                <a:solidFill>
                  <a:srgbClr val="E6EDF3"/>
                </a:solidFill>
                <a:latin typeface="Menlo"/>
              </a:rPr>
              <a:t>, </a:t>
            </a:r>
            <a:r>
              <a:rPr sz="900" i="0">
                <a:solidFill>
                  <a:srgbClr val="E6EDF3"/>
                </a:solidFill>
                <a:latin typeface="Menlo"/>
              </a:rPr>
              <a:t>price</a:t>
            </a:r>
            <a:r>
              <a:rPr sz="900" i="0">
                <a:solidFill>
                  <a:srgbClr val="E6EDF3"/>
                </a:solidFill>
                <a:latin typeface="Menlo"/>
              </a:rPr>
              <a:t> = 9.9 })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i="1">
                <a:solidFill>
                  <a:srgbClr val="C5E0B4"/>
                </a:solidFill>
                <a:latin typeface="Menlo"/>
              </a:rPr>
              <a:t>k</a:t>
            </a:r>
            <a:r>
              <a:rPr sz="900" i="0">
                <a:solidFill>
                  <a:srgbClr val="E6EDF3"/>
                </a:solidFill>
                <a:latin typeface="Menlo"/>
              </a:rPr>
              <a:t>.</a:t>
            </a:r>
            <a:r>
              <a:rPr sz="900" i="0">
                <a:solidFill>
                  <a:srgbClr val="E6EDF3"/>
                </a:solidFill>
                <a:latin typeface="Menlo"/>
              </a:rPr>
              <a:t>tx_commit</a:t>
            </a:r>
            <a:r>
              <a:rPr sz="900" i="0">
                <a:solidFill>
                  <a:srgbClr val="E6EDF3"/>
                </a:solidFill>
                <a:latin typeface="Menlo"/>
              </a:rPr>
              <a:t>(</a:t>
            </a:r>
            <a:r>
              <a:rPr sz="900" i="0">
                <a:solidFill>
                  <a:srgbClr val="E6EDF3"/>
                </a:solidFill>
                <a:latin typeface="Menlo"/>
              </a:rPr>
              <a:t>h</a:t>
            </a:r>
            <a:r>
              <a:rPr sz="900" i="0">
                <a:solidFill>
                  <a:srgbClr val="E6EDF3"/>
                </a:solidFill>
                <a:latin typeface="Menlo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257351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DSN schemes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— `sqlite://` · `mysql://` · `postgres://` · `sqlserver://` (SQLite, MySQL, PostgreSQL, SQL Server).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`--db NAME=DSN`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pre-registers a handle that any script can open with `k.connect_db("#NAME")`; a bad DSN fails startup fast.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Placeholders are handle-aware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— `?`, `$1` or `@p1` depending on the driver, numbered correctly across SET and WHERE.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2879" y="1645920"/>
            <a:ext cx="5635895" cy="1517904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52879" y="1645920"/>
            <a:ext cx="50292" cy="15179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047" y="1773936"/>
            <a:ext cx="5251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Database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047" y="2066543"/>
            <a:ext cx="5251847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Query builder: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`k.db_select` / `db_insert` / `db_update` / `db_delete`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take equality-filter tables; `k.db_proc` calls stored procedures.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Transactions: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`k.tx_begin` / `tx_commit` / `tx_rollback`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. Connections close with `k.disconnect_db(handle)` — or all of them with no argument.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Result sets are always `{ columns, rows }`; iterate with `k.rows(result)`.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2879" y="3310128"/>
            <a:ext cx="5635895" cy="2048256"/>
          </a:xfrm>
          <a:prstGeom prst="roundRect">
            <a:avLst>
              <a:gd name="adj" fmla="val 3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2879" y="3310128"/>
            <a:ext cx="50292" cy="2048256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047" y="3438144"/>
            <a:ext cx="5251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6D1F"/>
                </a:solidFill>
                <a:latin typeface="Calibri"/>
              </a:rPr>
              <a:t>Data &amp;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047" y="3730752"/>
            <a:ext cx="5251847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Files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— `k.file_load` / `save` (atomic), `open` / `read` / `read_line` / `write` / `close`, `exists` / `info` / `list` / `mkdir` / `move` / `copy` / `delete`; `k.zip_add` / `extract` / `list`.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Formats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— `k.csv_*`, `k.ini_*`, `k.yaml_*` each with parse / stringify / load / save variants.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Conversions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— `k.json_to_rows`, `k.csv_to_rows`, `k.xml_to_rows` and back via `k.rows_to_json|csv|xml`.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Comm &amp; crypto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 — sockets, FTP, SMTP, POP3, SOAP; `k.checksum`, AES-GCM `k.encrypt`/`k.decrypt`, AES-CBC `k.crypt_symmetric`, RSA `k.sign`/`k.verify`.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04688"/>
            <a:ext cx="11185855" cy="877824"/>
          </a:xfrm>
          <a:prstGeom prst="roundRect">
            <a:avLst>
              <a:gd name="adj" fmla="val 3000"/>
            </a:avLst>
          </a:prstGeom>
          <a:solidFill>
            <a:srgbClr val="FCE4EC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504688"/>
            <a:ext cx="50292" cy="87782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632703"/>
            <a:ext cx="10801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Calibri"/>
              </a:rPr>
              <a:t>Serve mode additions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925312"/>
            <a:ext cx="10801807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Calibri"/>
              </a:rPr>
              <a:t>•  `k.shared.set` / `get` / `del` / `keys` / `incr` — thread-safe state shared across the worker pool   ·   `k.ws.broadcast` / `send` / `close` push to WebSocket clients   ·   `k.tcp.accept` / `send` / `close` for raw TCP   ·   UI bindings (`k.form.*`, `k.ctrl.*`, `k.msgbox`, `k.status_*`) raise a runtime error in serve mode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C8EB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D8C"/>
                </a:solidFill>
                <a:latin typeface="Calibri"/>
              </a:rPr>
              <a:t>Quick start — and the whole platform in one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051560" cy="41148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1097280"/>
            <a:ext cx="10134295" cy="41148"/>
          </a:xfrm>
          <a:prstGeom prst="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7115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KALUA  ·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C97A2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9285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673"/>
                </a:solidFill>
                <a:latin typeface="Calibri"/>
              </a:rPr>
              <a:t>EVERY COMMAND YOU ACTUALLY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5928503" cy="3035808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55648"/>
            <a:ext cx="5635895" cy="2816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# 1. </a:t>
            </a:r>
            <a:r>
              <a:rPr sz="950" i="0">
                <a:solidFill>
                  <a:srgbClr val="E6EDF3"/>
                </a:solidFill>
                <a:latin typeface="Menlo"/>
              </a:rPr>
              <a:t>build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go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build</a:t>
            </a:r>
            <a:r>
              <a:rPr sz="950" i="0">
                <a:solidFill>
                  <a:srgbClr val="E6EDF3"/>
                </a:solidFill>
                <a:latin typeface="Menlo"/>
              </a:rPr>
              <a:t> -</a:t>
            </a:r>
            <a:r>
              <a:rPr sz="950" i="0">
                <a:solidFill>
                  <a:srgbClr val="E6EDF3"/>
                </a:solidFill>
                <a:latin typeface="Menlo"/>
              </a:rPr>
              <a:t>o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./</a:t>
            </a:r>
            <a:r>
              <a:rPr sz="950" i="0">
                <a:solidFill>
                  <a:srgbClr val="E6EDF3"/>
                </a:solidFill>
                <a:latin typeface="Menlo"/>
              </a:rPr>
              <a:t>cmd</a:t>
            </a:r>
            <a:r>
              <a:rPr sz="950" i="0">
                <a:solidFill>
                  <a:srgbClr val="E6EDF3"/>
                </a:solidFill>
                <a:latin typeface="Menlo"/>
              </a:rPr>
              <a:t>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# 2. </a:t>
            </a:r>
            <a:r>
              <a:rPr sz="950" i="0">
                <a:solidFill>
                  <a:srgbClr val="E6EDF3"/>
                </a:solidFill>
                <a:latin typeface="Menlo"/>
              </a:rPr>
              <a:t>scaffold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7EC6F0"/>
                </a:solidFill>
                <a:latin typeface="Menlo"/>
              </a:rPr>
              <a:t>and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run</a:t>
            </a:r>
            <a:r>
              <a:rPr sz="950" i="0">
                <a:solidFill>
                  <a:srgbClr val="E6EDF3"/>
                </a:solidFill>
                <a:latin typeface="Menlo"/>
              </a:rPr>
              <a:t> (</a:t>
            </a:r>
            <a:r>
              <a:rPr sz="950" i="0">
                <a:solidFill>
                  <a:srgbClr val="E6EDF3"/>
                </a:solidFill>
                <a:latin typeface="Menlo"/>
              </a:rPr>
              <a:t>browser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opens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on</a:t>
            </a:r>
            <a:r>
              <a:rPr sz="950" i="0">
                <a:solidFill>
                  <a:srgbClr val="E6EDF3"/>
                </a:solidFill>
                <a:latin typeface="Menlo"/>
              </a:rPr>
              <a:t> :9000)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new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run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  <a:r>
              <a:rPr sz="950" i="0">
                <a:solidFill>
                  <a:srgbClr val="E6EDF3"/>
                </a:solidFill>
                <a:latin typeface="Menlo"/>
              </a:rPr>
              <a:t> --</a:t>
            </a:r>
            <a:r>
              <a:rPr sz="950" i="0">
                <a:solidFill>
                  <a:srgbClr val="E6EDF3"/>
                </a:solidFill>
                <a:latin typeface="Menlo"/>
              </a:rPr>
              <a:t>watch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# 3. </a:t>
            </a:r>
            <a:r>
              <a:rPr sz="950" i="0">
                <a:solidFill>
                  <a:srgbClr val="E6EDF3"/>
                </a:solidFill>
                <a:latin typeface="Menlo"/>
              </a:rPr>
              <a:t>validate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7EC6F0"/>
                </a:solidFill>
                <a:latin typeface="Menlo"/>
              </a:rPr>
              <a:t>and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canonicalise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formatting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check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check</a:t>
            </a:r>
            <a:r>
              <a:rPr sz="950" i="0">
                <a:solidFill>
                  <a:srgbClr val="E6EDF3"/>
                </a:solidFill>
                <a:latin typeface="Menlo"/>
              </a:rPr>
              <a:t> -</a:t>
            </a:r>
            <a:r>
              <a:rPr sz="950" i="0">
                <a:solidFill>
                  <a:srgbClr val="E6EDF3"/>
                </a:solidFill>
                <a:latin typeface="Menlo"/>
              </a:rPr>
              <a:t>w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# 4. </a:t>
            </a:r>
            <a:r>
              <a:rPr sz="950" i="0">
                <a:solidFill>
                  <a:srgbClr val="E6EDF3"/>
                </a:solidFill>
                <a:latin typeface="Menlo"/>
              </a:rPr>
              <a:t>headless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API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serve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api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  <a:r>
              <a:rPr sz="950" i="0">
                <a:solidFill>
                  <a:srgbClr val="E6EDF3"/>
                </a:solidFill>
                <a:latin typeface="Menlo"/>
              </a:rPr>
              <a:t> --</a:t>
            </a:r>
            <a:r>
              <a:rPr sz="950" i="0">
                <a:solidFill>
                  <a:srgbClr val="E6EDF3"/>
                </a:solidFill>
                <a:latin typeface="Menlo"/>
              </a:rPr>
              <a:t>mode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http</a:t>
            </a:r>
            <a:r>
              <a:rPr sz="950" i="0">
                <a:solidFill>
                  <a:srgbClr val="E6EDF3"/>
                </a:solidFill>
                <a:latin typeface="Menlo"/>
              </a:rPr>
              <a:t>,</a:t>
            </a:r>
            <a:r>
              <a:rPr sz="950" i="0">
                <a:solidFill>
                  <a:srgbClr val="E6EDF3"/>
                </a:solidFill>
                <a:latin typeface="Menlo"/>
              </a:rPr>
              <a:t>ws</a:t>
            </a:r>
            <a:r>
              <a:rPr sz="950" i="0">
                <a:solidFill>
                  <a:srgbClr val="E6EDF3"/>
                </a:solidFill>
                <a:latin typeface="Menlo"/>
              </a:rPr>
              <a:t> --</a:t>
            </a:r>
            <a:r>
              <a:rPr sz="950" i="0">
                <a:solidFill>
                  <a:srgbClr val="E6EDF3"/>
                </a:solidFill>
                <a:latin typeface="Menlo"/>
              </a:rPr>
              <a:t>workers</a:t>
            </a:r>
            <a:r>
              <a:rPr sz="950" i="0">
                <a:solidFill>
                  <a:srgbClr val="E6EDF3"/>
                </a:solidFill>
                <a:latin typeface="Menlo"/>
              </a:rPr>
              <a:t> 4 --</a:t>
            </a:r>
            <a:r>
              <a:rPr sz="950" i="0">
                <a:solidFill>
                  <a:srgbClr val="E6EDF3"/>
                </a:solidFill>
                <a:latin typeface="Menlo"/>
              </a:rPr>
              <a:t>port</a:t>
            </a:r>
            <a:r>
              <a:rPr sz="950" i="0">
                <a:solidFill>
                  <a:srgbClr val="E6EDF3"/>
                </a:solidFill>
                <a:latin typeface="Menlo"/>
              </a:rPr>
              <a:t> 8080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# 5. </a:t>
            </a:r>
            <a:r>
              <a:rPr sz="950" i="0">
                <a:solidFill>
                  <a:srgbClr val="E6EDF3"/>
                </a:solidFill>
                <a:latin typeface="Menlo"/>
              </a:rPr>
              <a:t>visual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editing</a:t>
            </a:r>
            <a:r>
              <a:rPr sz="950" i="0">
                <a:solidFill>
                  <a:srgbClr val="E6EDF3"/>
                </a:solidFill>
                <a:latin typeface="Menlo"/>
              </a:rPr>
              <a:t>, </a:t>
            </a:r>
            <a:r>
              <a:rPr sz="950" i="0">
                <a:solidFill>
                  <a:srgbClr val="E6EDF3"/>
                </a:solidFill>
                <a:latin typeface="Menlo"/>
              </a:rPr>
              <a:t>AI</a:t>
            </a:r>
            <a:r>
              <a:rPr sz="950" i="0">
                <a:solidFill>
                  <a:srgbClr val="E6EDF3"/>
                </a:solidFill>
                <a:latin typeface="Menlo"/>
              </a:rPr>
              <a:t>, </a:t>
            </a:r>
            <a:r>
              <a:rPr sz="950" i="0">
                <a:solidFill>
                  <a:srgbClr val="E6EDF3"/>
                </a:solidFill>
                <a:latin typeface="Menlo"/>
              </a:rPr>
              <a:t>editors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7EC6F0"/>
                </a:solidFill>
                <a:latin typeface="Menlo"/>
              </a:rPr>
              <a:t>and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agents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builder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ai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generate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A5D6A0"/>
                </a:solidFill>
                <a:latin typeface="Menlo"/>
              </a:rPr>
              <a:t>"a login form"</a:t>
            </a:r>
            <a:r>
              <a:rPr sz="950" i="0">
                <a:solidFill>
                  <a:srgbClr val="E6EDF3"/>
                </a:solidFill>
                <a:latin typeface="Menlo"/>
              </a:rPr>
              <a:t> -</a:t>
            </a:r>
            <a:r>
              <a:rPr sz="950" i="0">
                <a:solidFill>
                  <a:srgbClr val="E6EDF3"/>
                </a:solidFill>
                <a:latin typeface="Menlo"/>
              </a:rPr>
              <a:t>o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myapp</a:t>
            </a:r>
            <a:r>
              <a:rPr sz="950" i="0">
                <a:solidFill>
                  <a:srgbClr val="E6EDF3"/>
                </a:solidFill>
                <a:latin typeface="Menlo"/>
              </a:rPr>
              <a:t>.</a:t>
            </a:r>
            <a:r>
              <a:rPr sz="950" i="0">
                <a:solidFill>
                  <a:srgbClr val="E6EDF3"/>
                </a:solidFill>
                <a:latin typeface="Menlo"/>
              </a:rPr>
              <a:t>lua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lsp</a:t>
            </a:r>
            <a:r>
              <a:rPr sz="950" i="0">
                <a:solidFill>
                  <a:srgbClr val="E6EDF3"/>
                </a:solidFill>
                <a:latin typeface="Menlo"/>
              </a:rPr>
              <a:t>        # </a:t>
            </a:r>
            <a:r>
              <a:rPr sz="950" i="0">
                <a:solidFill>
                  <a:srgbClr val="E6EDF3"/>
                </a:solidFill>
                <a:latin typeface="Menlo"/>
              </a:rPr>
              <a:t>editor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language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server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Menlo"/>
              </a:rPr>
              <a:t>./</a:t>
            </a:r>
            <a:r>
              <a:rPr sz="950" i="0">
                <a:solidFill>
                  <a:srgbClr val="E6EDF3"/>
                </a:solidFill>
                <a:latin typeface="Menlo"/>
              </a:rPr>
              <a:t>KALUA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mcp</a:t>
            </a:r>
            <a:r>
              <a:rPr sz="950" i="0">
                <a:solidFill>
                  <a:srgbClr val="E6EDF3"/>
                </a:solidFill>
                <a:latin typeface="Menlo"/>
              </a:rPr>
              <a:t>        # </a:t>
            </a:r>
            <a:r>
              <a:rPr sz="950" i="0">
                <a:solidFill>
                  <a:srgbClr val="E6EDF3"/>
                </a:solidFill>
                <a:latin typeface="Menlo"/>
              </a:rPr>
              <a:t>Model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Context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Protocol</a:t>
            </a:r>
            <a:r>
              <a:rPr sz="950" i="0">
                <a:solidFill>
                  <a:srgbClr val="E6EDF3"/>
                </a:solidFill>
                <a:latin typeface="Menlo"/>
              </a:rPr>
              <a:t> </a:t>
            </a:r>
            <a:r>
              <a:rPr sz="950" i="0">
                <a:solidFill>
                  <a:srgbClr val="E6EDF3"/>
                </a:solidFill>
                <a:latin typeface="Menlo"/>
              </a:rPr>
              <a:t>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5140" y="1645920"/>
            <a:ext cx="5033634" cy="1700784"/>
          </a:xfrm>
          <a:prstGeom prst="roundRect">
            <a:avLst>
              <a:gd name="adj" fmla="val 3000"/>
            </a:avLst>
          </a:prstGeom>
          <a:solidFill>
            <a:srgbClr val="E8F4F8"/>
          </a:solidFill>
          <a:ln w="95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55140" y="1645920"/>
            <a:ext cx="50292" cy="1700784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6308" y="1773936"/>
            <a:ext cx="46495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D8C"/>
                </a:solidFill>
                <a:latin typeface="Calibri"/>
              </a:rPr>
              <a:t>What to 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6308" y="2066543"/>
            <a:ext cx="464958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t>•  One binary, three run modes. `run` for browser apps, `wasm-bundle` for 100% client-side static pages, `serve` for headless APIs — same scripts, same `k.*` API.</a:t>
            </a:r>
          </a:p>
          <a:p>
            <a:r>
              <a:t>•  Flags can be persisted. Drop them in `KALUA.INI`; command-line flags always win.</a:t>
            </a:r>
          </a:p>
          <a:p>
            <a:r>
              <a:t>•  Design, generate and verify in one toolchain. Builder for structure, `ai` for drafts, `check` for correctness, `mcp` for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5140" y="3493008"/>
            <a:ext cx="5033634" cy="1700784"/>
          </a:xfrm>
          <a:prstGeom prst="roundRect">
            <a:avLst>
              <a:gd name="adj" fmla="val 3000"/>
            </a:avLst>
          </a:prstGeom>
          <a:solidFill>
            <a:srgbClr val="FFF9E6"/>
          </a:solidFill>
          <a:ln w="9525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55140" y="3493008"/>
            <a:ext cx="50292" cy="1700784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6308" y="3621024"/>
            <a:ext cx="46495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6D1F"/>
                </a:solidFill>
                <a:latin typeface="Calibri"/>
              </a:rPr>
              <a:t>Where to go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6308" y="3913632"/>
            <a:ext cx="464958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`docs/USER_GUIDE.md`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— the full guide; chapter 5 is generated from `internal/bindings/api_doc.go` (`go run ./cmd/kalua-userguide`).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`KALUA.ini.sample`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— copy it to `./KALUA.INI` to bootstrap configuration.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•  </a:t>
            </a:r>
            <a:r>
              <a:rPr sz="1000" b="1" i="0">
                <a:solidFill>
                  <a:srgbClr val="1F2933"/>
                </a:solidFill>
                <a:latin typeface="Calibri"/>
              </a:rPr>
              <a:t>`testdata/apps/*.lua`</a:t>
            </a:r>
            <a:r>
              <a:rPr sz="1000" b="0" i="0">
                <a:solidFill>
                  <a:srgbClr val="1F2933"/>
                </a:solidFill>
                <a:latin typeface="Calibri"/>
              </a:rPr>
              <a:t> — runnable demos for forms, layout, charts and the extended controls.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76672"/>
            <a:ext cx="2590723" cy="7132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0160">
            <a:solidFill>
              <a:srgbClr val="D8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5504688"/>
            <a:ext cx="22981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8DDE2"/>
                </a:solidFill>
                <a:latin typeface="Calibri"/>
              </a:rPr>
              <a:t>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plain Lua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30219" y="5641848"/>
            <a:ext cx="201168" cy="182880"/>
          </a:xfrm>
          <a:prstGeom prst="rightArrow">
            <a:avLst/>
          </a:prstGeom>
          <a:solidFill>
            <a:srgbClr val="D8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67963" y="5376672"/>
            <a:ext cx="2590723" cy="713232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016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4267" y="5504688"/>
            <a:ext cx="22981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C8EBF"/>
                </a:solidFill>
                <a:latin typeface="Calibri"/>
              </a:rPr>
              <a:t>Runtime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sandboxed gopher-lua + k.*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95263" y="5641848"/>
            <a:ext cx="201168" cy="182880"/>
          </a:xfrm>
          <a:prstGeom prst="rightArrow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5376672"/>
            <a:ext cx="2590723" cy="713232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 w="1016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9311" y="5504688"/>
            <a:ext cx="22981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695C"/>
                </a:solidFill>
                <a:latin typeface="Calibri"/>
              </a:rPr>
              <a:t>Surfaces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web · API · editor · agents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60307" y="5641848"/>
            <a:ext cx="201168" cy="182880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98051" y="5376672"/>
            <a:ext cx="2590723" cy="713232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016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355" y="5504688"/>
            <a:ext cx="22981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1B9A"/>
                </a:solidFill>
                <a:latin typeface="Calibri"/>
              </a:rPr>
              <a:t>Tooling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check · builder · ai · lsp · 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KALUA Platform Overview</dc:title>
  <dc:subject>High-level walkthrough of the KALUA platform</dc:subject>
  <dc:creator>KALUA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